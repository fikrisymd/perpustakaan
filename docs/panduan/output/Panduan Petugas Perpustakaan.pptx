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16x9"/>
  <p:notesSz cx="6858000" cy="9144000"/>
  <p:defaultTextStyle>
    <a:defPPr>
      <a:defRPr lang="id-ID"/>
    </a:defPPr>
    <a:lvl1pPr marL="0" algn="l" defTabSz="457200" rtl="0" eaLnBrk="1" latinLnBrk="0" hangingPunct="1">
      <a:defRPr sz="1800" kern="1200" lang="id-ID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id-ID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id-ID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id-ID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id-ID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id-ID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id-ID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id-ID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id-ID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anduan_admi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id-ID" smtClean="0"/>
              <a:t>1/27/13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anduan_admi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id-ID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id-ID" smtClean="0"/>
              <a:t>1/27/13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id-ID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id-ID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id-ID" smtClean="0"/>
              <a:t>‹#›</a:t>
            </a:fld>
            <a:endParaRPr 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id-ID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id-ID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id-ID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id-ID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id-ID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id-ID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id-ID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id-ID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id-ID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id-ID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457200" rtl="0" eaLnBrk="1" latinLnBrk="0" hangingPunct="1">
        <a:defRPr sz="1800" kern="1200" lang="id-ID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id-ID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id-ID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id-ID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id-ID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id-ID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id-ID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id-ID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id-ID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-spine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3F5D3A"/>
          </a:solidFill>
          <a:ln>
            <a:noFill/>
          </a:ln>
        </p:spPr>
      </p:sp>
      <p:sp>
        <p:nvSpPr>
          <p:cNvPr id="3" name="deco-panel"/>
          <p:cNvSpPr/>
          <p:nvPr/>
        </p:nvSpPr>
        <p:spPr>
          <a:xfrm>
            <a:off x="8382000" y="0"/>
            <a:ext cx="3810000" cy="6858000"/>
          </a:xfrm>
          <a:prstGeom prst="rect">
            <a:avLst/>
          </a:prstGeom>
          <a:solidFill>
            <a:srgbClr val="3F5D3A"/>
          </a:solidFill>
          <a:ln>
            <a:noFill/>
          </a:ln>
        </p:spPr>
      </p:sp>
      <p:sp>
        <p:nvSpPr>
          <p:cNvPr id="4" name="deco-top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B08A3E"/>
          </a:solidFill>
          <a:ln>
            <a:noFill/>
          </a:ln>
        </p:spPr>
      </p:sp>
      <p:grpSp>
        <p:nvGrpSpPr>
          <p:cNvPr id="9" name="cover-title"/>
          <p:cNvGrpSpPr/>
          <p:nvPr/>
        </p:nvGrpSpPr>
        <p:grpSpPr>
          <a:xfrm>
            <a:off x="819150" y="1765300"/>
            <a:ext cx="5266825" cy="2659952"/>
            <a:chOff x="819150" y="1765300"/>
            <a:chExt cx="5266825" cy="2659952"/>
          </a:xfrm>
        </p:grpSpPr>
        <p:sp>
          <p:nvSpPr>
            <p:cNvPr id="5" name="TextBox 5"/>
            <p:cNvSpPr txBox="1"/>
            <p:nvPr/>
          </p:nvSpPr>
          <p:spPr>
            <a:xfrm>
              <a:off x="832104" y="1765300"/>
              <a:ext cx="36563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spc="300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PANDUAN PETUGAS · VERSI 1.0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19150" y="2247900"/>
              <a:ext cx="5266825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4650" b="1" dirty="0">
                  <a:solidFill>
                    <a:srgbClr val="23201B"/>
                  </a:solidFill>
                  <a:latin typeface="+mj-lt"/>
                  <a:ea typeface="+mj-ea"/>
                  <a:cs typeface="+mj-cs"/>
                </a:rPr>
                <a:t>Buku Panduan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19150" y="2914650"/>
              <a:ext cx="4849317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4650" b="1" dirty="0">
                  <a:solidFill>
                    <a:srgbClr val="3F5D3A"/>
                  </a:solidFill>
                  <a:latin typeface="+mj-lt"/>
                  <a:ea typeface="+mj-ea"/>
                  <a:cs typeface="+mj-cs"/>
                </a:rPr>
                <a:t>Perpustakaan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0961" y="3860800"/>
              <a:ext cx="3986935" cy="564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id-ID" sz="142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Panduan lengkap mengelola koleksi, peminjaman,</a:t>
              </a:r>
              <a:br>
                <a:rPr lang="id-ID" sz="142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</a:br>
              <a:r>
                <a:rPr lang="id-ID" sz="142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reservasi, dan laporan sirkulasi.</a:t>
              </a:r>
            </a:p>
          </p:txBody>
        </p:sp>
      </p:grpSp>
      <p:grpSp>
        <p:nvGrpSpPr>
          <p:cNvPr id="12" name="cover-meta"/>
          <p:cNvGrpSpPr/>
          <p:nvPr/>
        </p:nvGrpSpPr>
        <p:grpSpPr>
          <a:xfrm>
            <a:off x="832866" y="5715000"/>
            <a:ext cx="6958584" cy="605409"/>
            <a:chOff x="832866" y="5715000"/>
            <a:chExt cx="6958584" cy="605409"/>
          </a:xfrm>
        </p:grpSpPr>
        <p:sp>
          <p:nvSpPr>
            <p:cNvPr id="10" name="Line 10"/>
            <p:cNvSpPr/>
            <p:nvPr/>
          </p:nvSpPr>
          <p:spPr>
            <a:xfrm>
              <a:off x="838200" y="5715000"/>
              <a:ext cx="6953250" cy="9525"/>
            </a:xfrm>
            <a:custGeom>
              <a:avLst/>
              <a:gdLst/>
              <a:ahLst/>
              <a:cxnLst/>
              <a:rect l="l" t="t" r="r" b="b"/>
              <a:pathLst>
                <a:path w="6953250" h="9525">
                  <a:moveTo>
                    <a:pt x="0" y="0"/>
                  </a:moveTo>
                  <a:lnTo>
                    <a:pt x="695325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32866" y="5867400"/>
              <a:ext cx="2174698" cy="4530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id-ID" sz="105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SISTEM INFORMASI PERPUSTAKAAN</a:t>
              </a:r>
              <a:br>
                <a:rPr lang="id-ID" sz="105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</a:br>
              <a:r>
                <a:rPr lang="id-ID" sz="105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EDISI 2026 · UNTUK PETUGAS</a:t>
              </a:r>
            </a:p>
          </p:txBody>
        </p:sp>
      </p:grpSp>
      <p:grpSp>
        <p:nvGrpSpPr>
          <p:cNvPr id="18" name="cover-panel"/>
          <p:cNvGrpSpPr/>
          <p:nvPr/>
        </p:nvGrpSpPr>
        <p:grpSpPr>
          <a:xfrm>
            <a:off x="9039606" y="2503218"/>
            <a:ext cx="2438691" cy="2281126"/>
            <a:chOff x="9039606" y="2503218"/>
            <a:chExt cx="2438691" cy="2281126"/>
          </a:xfrm>
        </p:grpSpPr>
        <p:grpSp>
          <p:nvGrpSpPr>
            <p:cNvPr id="15" name="Group 15"/>
            <p:cNvGrpSpPr/>
            <p:nvPr/>
          </p:nvGrpSpPr>
          <p:grpSpPr>
            <a:xfrm>
              <a:off x="9170718" y="2503218"/>
              <a:ext cx="899065" cy="899065"/>
              <a:chOff x="9170718" y="2503218"/>
              <a:chExt cx="899065" cy="89906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9170718" y="2503218"/>
                <a:ext cx="899065" cy="899065"/>
              </a:xfrm>
              <a:custGeom>
                <a:avLst/>
                <a:gdLst/>
                <a:ahLst/>
                <a:cxnLst/>
                <a:rect l="l" t="t" r="r" b="b"/>
                <a:pathLst>
                  <a:path w="899065" h="899065">
                    <a:moveTo>
                      <a:pt x="369761" y="83629"/>
                    </a:moveTo>
                    <a:cubicBezTo>
                      <a:pt x="390049" y="0"/>
                      <a:pt x="509016" y="0"/>
                      <a:pt x="529304" y="83629"/>
                    </a:cubicBezTo>
                    <a:cubicBezTo>
                      <a:pt x="535478" y="109112"/>
                      <a:pt x="553452" y="130113"/>
                      <a:pt x="577675" y="140148"/>
                    </a:cubicBezTo>
                    <a:cubicBezTo>
                      <a:pt x="601898" y="150184"/>
                      <a:pt x="629457" y="148047"/>
                      <a:pt x="651843" y="134398"/>
                    </a:cubicBezTo>
                    <a:cubicBezTo>
                      <a:pt x="725329" y="89630"/>
                      <a:pt x="809482" y="173736"/>
                      <a:pt x="764715" y="247269"/>
                    </a:cubicBezTo>
                    <a:cubicBezTo>
                      <a:pt x="751085" y="269646"/>
                      <a:pt x="748953" y="297184"/>
                      <a:pt x="758977" y="321392"/>
                    </a:cubicBezTo>
                    <a:cubicBezTo>
                      <a:pt x="769001" y="345599"/>
                      <a:pt x="789976" y="363569"/>
                      <a:pt x="815435" y="369760"/>
                    </a:cubicBezTo>
                    <a:cubicBezTo>
                      <a:pt x="899065" y="390049"/>
                      <a:pt x="899065" y="509016"/>
                      <a:pt x="815435" y="529304"/>
                    </a:cubicBezTo>
                    <a:cubicBezTo>
                      <a:pt x="789953" y="535478"/>
                      <a:pt x="768952" y="553452"/>
                      <a:pt x="758916" y="577675"/>
                    </a:cubicBezTo>
                    <a:cubicBezTo>
                      <a:pt x="748881" y="601898"/>
                      <a:pt x="751018" y="629457"/>
                      <a:pt x="764667" y="651843"/>
                    </a:cubicBezTo>
                    <a:cubicBezTo>
                      <a:pt x="809435" y="725329"/>
                      <a:pt x="725329" y="809482"/>
                      <a:pt x="651796" y="764715"/>
                    </a:cubicBezTo>
                    <a:cubicBezTo>
                      <a:pt x="629419" y="751085"/>
                      <a:pt x="601881" y="748953"/>
                      <a:pt x="577673" y="758977"/>
                    </a:cubicBezTo>
                    <a:cubicBezTo>
                      <a:pt x="553465" y="769001"/>
                      <a:pt x="535495" y="789976"/>
                      <a:pt x="529304" y="815435"/>
                    </a:cubicBezTo>
                    <a:cubicBezTo>
                      <a:pt x="509016" y="899065"/>
                      <a:pt x="390049" y="899065"/>
                      <a:pt x="369761" y="815435"/>
                    </a:cubicBezTo>
                    <a:cubicBezTo>
                      <a:pt x="363586" y="789953"/>
                      <a:pt x="345613" y="768952"/>
                      <a:pt x="321390" y="758916"/>
                    </a:cubicBezTo>
                    <a:cubicBezTo>
                      <a:pt x="297167" y="748881"/>
                      <a:pt x="269608" y="751018"/>
                      <a:pt x="247221" y="764667"/>
                    </a:cubicBezTo>
                    <a:cubicBezTo>
                      <a:pt x="173736" y="809435"/>
                      <a:pt x="89583" y="725329"/>
                      <a:pt x="134350" y="651796"/>
                    </a:cubicBezTo>
                    <a:cubicBezTo>
                      <a:pt x="147980" y="629419"/>
                      <a:pt x="150111" y="601881"/>
                      <a:pt x="140088" y="577673"/>
                    </a:cubicBezTo>
                    <a:cubicBezTo>
                      <a:pt x="130064" y="553465"/>
                      <a:pt x="109088" y="535495"/>
                      <a:pt x="83630" y="529304"/>
                    </a:cubicBezTo>
                    <a:cubicBezTo>
                      <a:pt x="0" y="509016"/>
                      <a:pt x="0" y="390049"/>
                      <a:pt x="83630" y="369760"/>
                    </a:cubicBezTo>
                    <a:cubicBezTo>
                      <a:pt x="109112" y="363586"/>
                      <a:pt x="130113" y="345613"/>
                      <a:pt x="140148" y="321390"/>
                    </a:cubicBezTo>
                    <a:cubicBezTo>
                      <a:pt x="150184" y="297167"/>
                      <a:pt x="148047" y="269608"/>
                      <a:pt x="134398" y="247221"/>
                    </a:cubicBezTo>
                    <a:cubicBezTo>
                      <a:pt x="89630" y="173736"/>
                      <a:pt x="173736" y="89583"/>
                      <a:pt x="247269" y="134350"/>
                    </a:cubicBezTo>
                    <a:cubicBezTo>
                      <a:pt x="294894" y="163306"/>
                      <a:pt x="356616" y="137684"/>
                      <a:pt x="369761" y="83629"/>
                    </a:cubicBezTo>
                  </a:path>
                </a:pathLst>
              </a:custGeom>
              <a:noFill/>
              <a:ln w="52388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477375" y="2809875"/>
                <a:ext cx="285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85750">
                    <a:moveTo>
                      <a:pt x="0" y="142875"/>
                    </a:moveTo>
                    <a:cubicBezTo>
                      <a:pt x="0" y="221783"/>
                      <a:pt x="63967" y="285750"/>
                      <a:pt x="142875" y="285750"/>
                    </a:cubicBezTo>
                    <a:cubicBezTo>
                      <a:pt x="221783" y="285750"/>
                      <a:pt x="285750" y="221783"/>
                      <a:pt x="285750" y="142875"/>
                    </a:cubicBezTo>
                    <a:cubicBezTo>
                      <a:pt x="285750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52388">
                <a:solidFill>
                  <a:srgbClr val="FFFFFF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9043035" y="4127500"/>
              <a:ext cx="15345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225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UNTUK PETUGAS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39606" y="4432300"/>
              <a:ext cx="24386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80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Panduan operasional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"/>
          <p:cNvGrpSpPr/>
          <p:nvPr/>
        </p:nvGrpSpPr>
        <p:grpSpPr>
          <a:xfrm>
            <a:off x="672084" y="698500"/>
            <a:ext cx="10839069" cy="892175"/>
            <a:chOff x="672084" y="698500"/>
            <a:chExt cx="10839069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680085" y="698500"/>
              <a:ext cx="11756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22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DAFTAR ISI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965200"/>
              <a:ext cx="199964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2700" b="1" dirty="0">
                  <a:solidFill>
                    <a:srgbClr val="23201B"/>
                  </a:solidFill>
                  <a:latin typeface="+mj-lt"/>
                  <a:ea typeface="+mj-ea"/>
                  <a:cs typeface="+mj-cs"/>
                </a:rPr>
                <a:t>Daftar Isi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052533" y="723900"/>
              <a:ext cx="14586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15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PANDUAN PETUGAS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5811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</p:grpSp>
      <p:grpSp>
        <p:nvGrpSpPr>
          <p:cNvPr id="27" name="toc-0"/>
          <p:cNvGrpSpPr/>
          <p:nvPr/>
        </p:nvGrpSpPr>
        <p:grpSpPr>
          <a:xfrm>
            <a:off x="680085" y="2203450"/>
            <a:ext cx="5269230" cy="2435225"/>
            <a:chOff x="680085" y="2203450"/>
            <a:chExt cx="5269230" cy="2435225"/>
          </a:xfrm>
        </p:grpSpPr>
        <p:sp>
          <p:nvSpPr>
            <p:cNvPr id="7" name="TextBox 7"/>
            <p:cNvSpPr txBox="1"/>
            <p:nvPr/>
          </p:nvSpPr>
          <p:spPr>
            <a:xfrm>
              <a:off x="680085" y="2241550"/>
              <a:ext cx="1873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7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92911" y="2203450"/>
              <a:ext cx="21721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420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Masuk &amp; Dasbor Petugas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200150" y="2495550"/>
              <a:ext cx="4171950" cy="9525"/>
            </a:xfrm>
            <a:custGeom>
              <a:avLst/>
              <a:gdLst/>
              <a:ahLst/>
              <a:cxnLst/>
              <a:rect l="l" t="t" r="r" b="b"/>
              <a:pathLst>
                <a:path w="4171950" h="9525">
                  <a:moveTo>
                    <a:pt x="0" y="0"/>
                  </a:moveTo>
                  <a:lnTo>
                    <a:pt x="417195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772033" y="224155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112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80085" y="2774950"/>
              <a:ext cx="1873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7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92911" y="2736850"/>
              <a:ext cx="16823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420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Mengelola Kategori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200150" y="3028950"/>
              <a:ext cx="4171950" cy="9525"/>
            </a:xfrm>
            <a:custGeom>
              <a:avLst/>
              <a:gdLst/>
              <a:ahLst/>
              <a:cxnLst/>
              <a:rect l="l" t="t" r="r" b="b"/>
              <a:pathLst>
                <a:path w="4171950" h="9525">
                  <a:moveTo>
                    <a:pt x="0" y="0"/>
                  </a:moveTo>
                  <a:lnTo>
                    <a:pt x="417195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772033" y="277495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112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80085" y="3308350"/>
              <a:ext cx="1873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7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92911" y="3270250"/>
              <a:ext cx="14608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420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Menambah Buku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1200150" y="3562350"/>
              <a:ext cx="4171950" cy="9525"/>
            </a:xfrm>
            <a:custGeom>
              <a:avLst/>
              <a:gdLst/>
              <a:ahLst/>
              <a:cxnLst/>
              <a:rect l="l" t="t" r="r" b="b"/>
              <a:pathLst>
                <a:path w="4171950" h="9525">
                  <a:moveTo>
                    <a:pt x="0" y="0"/>
                  </a:moveTo>
                  <a:lnTo>
                    <a:pt x="417195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772033" y="330835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112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80085" y="3841750"/>
              <a:ext cx="1873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7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92911" y="3803650"/>
              <a:ext cx="26848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420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Mengubah &amp; Menghapus Buku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1200150" y="4095750"/>
              <a:ext cx="4171950" cy="9525"/>
            </a:xfrm>
            <a:custGeom>
              <a:avLst/>
              <a:gdLst/>
              <a:ahLst/>
              <a:cxnLst/>
              <a:rect l="l" t="t" r="r" b="b"/>
              <a:pathLst>
                <a:path w="4171950" h="9525">
                  <a:moveTo>
                    <a:pt x="0" y="0"/>
                  </a:moveTo>
                  <a:lnTo>
                    <a:pt x="417195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772033" y="384175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112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06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0085" y="4375150"/>
              <a:ext cx="1873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7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92911" y="4337050"/>
              <a:ext cx="19107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420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Mencatat Peminjaman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1200150" y="4629150"/>
              <a:ext cx="4171950" cy="9525"/>
            </a:xfrm>
            <a:custGeom>
              <a:avLst/>
              <a:gdLst/>
              <a:ahLst/>
              <a:cxnLst/>
              <a:rect l="l" t="t" r="r" b="b"/>
              <a:pathLst>
                <a:path w="4171950" h="9525">
                  <a:moveTo>
                    <a:pt x="0" y="0"/>
                  </a:moveTo>
                  <a:lnTo>
                    <a:pt x="417195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772033" y="437515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112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07</a:t>
              </a:r>
            </a:p>
          </p:txBody>
        </p:sp>
      </p:grpSp>
      <p:grpSp>
        <p:nvGrpSpPr>
          <p:cNvPr id="48" name="toc-1"/>
          <p:cNvGrpSpPr/>
          <p:nvPr/>
        </p:nvGrpSpPr>
        <p:grpSpPr>
          <a:xfrm>
            <a:off x="6242685" y="2203450"/>
            <a:ext cx="5269230" cy="2435225"/>
            <a:chOff x="6242685" y="2203450"/>
            <a:chExt cx="5269230" cy="2435225"/>
          </a:xfrm>
        </p:grpSpPr>
        <p:sp>
          <p:nvSpPr>
            <p:cNvPr id="28" name="TextBox 28"/>
            <p:cNvSpPr txBox="1"/>
            <p:nvPr/>
          </p:nvSpPr>
          <p:spPr>
            <a:xfrm>
              <a:off x="6242685" y="2241550"/>
              <a:ext cx="1873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7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06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55511" y="2203450"/>
              <a:ext cx="22683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420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Memproses Pengembalian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6762750" y="2495550"/>
              <a:ext cx="4171950" cy="9525"/>
            </a:xfrm>
            <a:custGeom>
              <a:avLst/>
              <a:gdLst/>
              <a:ahLst/>
              <a:cxnLst/>
              <a:rect l="l" t="t" r="r" b="b"/>
              <a:pathLst>
                <a:path w="4171950" h="9525">
                  <a:moveTo>
                    <a:pt x="0" y="0"/>
                  </a:moveTo>
                  <a:lnTo>
                    <a:pt x="417195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1334633" y="224155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112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08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42685" y="2774950"/>
              <a:ext cx="1873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7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07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55511" y="2736850"/>
              <a:ext cx="24762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420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Mengelola Antrean Reservasi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762750" y="3028950"/>
              <a:ext cx="4171950" cy="9525"/>
            </a:xfrm>
            <a:custGeom>
              <a:avLst/>
              <a:gdLst/>
              <a:ahLst/>
              <a:cxnLst/>
              <a:rect l="l" t="t" r="r" b="b"/>
              <a:pathLst>
                <a:path w="4171950" h="9525">
                  <a:moveTo>
                    <a:pt x="0" y="0"/>
                  </a:moveTo>
                  <a:lnTo>
                    <a:pt x="417195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334633" y="277495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112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09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42685" y="3308350"/>
              <a:ext cx="1873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7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08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55511" y="3270250"/>
              <a:ext cx="14489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420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Laporan Sirkulasi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6762750" y="3562350"/>
              <a:ext cx="4171950" cy="9525"/>
            </a:xfrm>
            <a:custGeom>
              <a:avLst/>
              <a:gdLst/>
              <a:ahLst/>
              <a:cxnLst/>
              <a:rect l="l" t="t" r="r" b="b"/>
              <a:pathLst>
                <a:path w="4171950" h="9525">
                  <a:moveTo>
                    <a:pt x="0" y="0"/>
                  </a:moveTo>
                  <a:lnTo>
                    <a:pt x="417195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1334633" y="330835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112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10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42685" y="3841750"/>
              <a:ext cx="1873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7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09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55511" y="3803650"/>
              <a:ext cx="144534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420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Ekspor Data CSV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6762750" y="4095750"/>
              <a:ext cx="4171950" cy="9525"/>
            </a:xfrm>
            <a:custGeom>
              <a:avLst/>
              <a:gdLst/>
              <a:ahLst/>
              <a:cxnLst/>
              <a:rect l="l" t="t" r="r" b="b"/>
              <a:pathLst>
                <a:path w="4171950" h="9525">
                  <a:moveTo>
                    <a:pt x="0" y="0"/>
                  </a:moveTo>
                  <a:lnTo>
                    <a:pt x="417195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1334633" y="384175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112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11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42685" y="4375150"/>
              <a:ext cx="1873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7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10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55511" y="4337050"/>
              <a:ext cx="209912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420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Notifikasi Keterlambatan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6762750" y="4629150"/>
              <a:ext cx="4171950" cy="9525"/>
            </a:xfrm>
            <a:custGeom>
              <a:avLst/>
              <a:gdLst/>
              <a:ahLst/>
              <a:cxnLst/>
              <a:rect l="l" t="t" r="r" b="b"/>
              <a:pathLst>
                <a:path w="4171950" h="9525">
                  <a:moveTo>
                    <a:pt x="0" y="0"/>
                  </a:moveTo>
                  <a:lnTo>
                    <a:pt x="417195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1334633" y="437515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112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12</a:t>
              </a:r>
            </a:p>
          </p:txBody>
        </p:sp>
      </p:grpSp>
      <p:grpSp>
        <p:nvGrpSpPr>
          <p:cNvPr id="56" name="toc-note"/>
          <p:cNvGrpSpPr/>
          <p:nvPr/>
        </p:nvGrpSpPr>
        <p:grpSpPr>
          <a:xfrm>
            <a:off x="685800" y="5334000"/>
            <a:ext cx="10820400" cy="838200"/>
            <a:chOff x="685800" y="5334000"/>
            <a:chExt cx="10820400" cy="838200"/>
          </a:xfrm>
        </p:grpSpPr>
        <p:sp>
          <p:nvSpPr>
            <p:cNvPr id="49" name="Rectangle 49"/>
            <p:cNvSpPr/>
            <p:nvPr/>
          </p:nvSpPr>
          <p:spPr>
            <a:xfrm>
              <a:off x="685800" y="5334000"/>
              <a:ext cx="10820400" cy="838200"/>
            </a:xfrm>
            <a:prstGeom prst="rect">
              <a:avLst/>
            </a:prstGeom>
            <a:solidFill>
              <a:srgbClr val="EFEADD"/>
            </a:solidFill>
            <a:ln w="9525">
              <a:solidFill>
                <a:srgbClr val="D9D2C2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85800" y="5334000"/>
              <a:ext cx="47625" cy="838200"/>
            </a:xfrm>
            <a:prstGeom prst="rect">
              <a:avLst/>
            </a:prstGeom>
            <a:solidFill>
              <a:srgbClr val="B08A3E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945356" y="5660231"/>
              <a:ext cx="185737" cy="185737"/>
              <a:chOff x="945356" y="5660231"/>
              <a:chExt cx="185737" cy="185737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945356" y="5660231"/>
                <a:ext cx="185737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85737">
                    <a:moveTo>
                      <a:pt x="0" y="92868"/>
                    </a:moveTo>
                    <a:cubicBezTo>
                      <a:pt x="0" y="144158"/>
                      <a:pt x="41579" y="185737"/>
                      <a:pt x="92868" y="185737"/>
                    </a:cubicBezTo>
                    <a:cubicBezTo>
                      <a:pt x="144158" y="185737"/>
                      <a:pt x="185737" y="144158"/>
                      <a:pt x="185737" y="92868"/>
                    </a:cubicBezTo>
                    <a:cubicBezTo>
                      <a:pt x="185737" y="41579"/>
                      <a:pt x="144158" y="0"/>
                      <a:pt x="92868" y="0"/>
                    </a:cubicBezTo>
                    <a:cubicBezTo>
                      <a:pt x="41579" y="0"/>
                      <a:pt x="0" y="41579"/>
                      <a:pt x="0" y="92868"/>
                    </a:cubicBezTo>
                  </a:path>
                </a:pathLst>
              </a:custGeom>
              <a:noFill/>
              <a:ln w="20637">
                <a:solidFill>
                  <a:srgbClr val="B08A3E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1038225" y="57221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03" y="0"/>
                    </a:lnTo>
                  </a:path>
                </a:pathLst>
              </a:custGeom>
              <a:noFill/>
              <a:ln w="20637">
                <a:solidFill>
                  <a:srgbClr val="B08A3E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027906" y="5753100"/>
                <a:ext cx="206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41275">
                    <a:moveTo>
                      <a:pt x="0" y="0"/>
                    </a:moveTo>
                    <a:lnTo>
                      <a:pt x="10319" y="0"/>
                    </a:lnTo>
                    <a:lnTo>
                      <a:pt x="10319" y="41275"/>
                    </a:lnTo>
                    <a:lnTo>
                      <a:pt x="20637" y="41275"/>
                    </a:lnTo>
                  </a:path>
                </a:pathLst>
              </a:custGeom>
              <a:noFill/>
              <a:ln w="20637">
                <a:solidFill>
                  <a:srgbClr val="B08A3E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270254" y="5667375"/>
              <a:ext cx="70407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Setiap bagian berdiri sendiri. Buka halaman yang Anda butuhkan tanpa harus membaca berurutan.</a:t>
              </a:r>
            </a:p>
          </p:txBody>
        </p:sp>
      </p:grpSp>
      <p:grpSp>
        <p:nvGrpSpPr>
          <p:cNvPr id="60" name="ftr"/>
          <p:cNvGrpSpPr/>
          <p:nvPr/>
        </p:nvGrpSpPr>
        <p:grpSpPr>
          <a:xfrm>
            <a:off x="680847" y="6362700"/>
            <a:ext cx="10830306" cy="324993"/>
            <a:chOff x="680847" y="6362700"/>
            <a:chExt cx="10830306" cy="324993"/>
          </a:xfrm>
        </p:grpSpPr>
        <p:sp>
          <p:nvSpPr>
            <p:cNvPr id="57" name="Line 57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80847" y="6496050"/>
              <a:ext cx="24956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Perpustakaan · Panduan Petugas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932747" y="6496050"/>
              <a:ext cx="5784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02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"/>
          <p:cNvGrpSpPr/>
          <p:nvPr/>
        </p:nvGrpSpPr>
        <p:grpSpPr>
          <a:xfrm>
            <a:off x="672084" y="698500"/>
            <a:ext cx="10839069" cy="892175"/>
            <a:chOff x="672084" y="698500"/>
            <a:chExt cx="10839069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680085" y="698500"/>
              <a:ext cx="10560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22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BAGIAN 01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965200"/>
              <a:ext cx="510986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2700" b="1" dirty="0">
                  <a:solidFill>
                    <a:srgbClr val="23201B"/>
                  </a:solidFill>
                  <a:latin typeface="+mj-lt"/>
                  <a:ea typeface="+mj-ea"/>
                  <a:cs typeface="+mj-cs"/>
                </a:rPr>
                <a:t>Masuk &amp; Dasbor Petugas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052533" y="723900"/>
              <a:ext cx="14586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15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PANDUAN PETUGAS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5811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</p:grpSp>
      <p:grpSp>
        <p:nvGrpSpPr>
          <p:cNvPr id="22" name="c1"/>
          <p:cNvGrpSpPr/>
          <p:nvPr/>
        </p:nvGrpSpPr>
        <p:grpSpPr>
          <a:xfrm>
            <a:off x="685800" y="1905000"/>
            <a:ext cx="5257800" cy="2476500"/>
            <a:chOff x="685800" y="1905000"/>
            <a:chExt cx="5257800" cy="2476500"/>
          </a:xfrm>
        </p:grpSpPr>
        <p:sp>
          <p:nvSpPr>
            <p:cNvPr id="7" name="Rectangle 7"/>
            <p:cNvSpPr/>
            <p:nvPr/>
          </p:nvSpPr>
          <p:spPr>
            <a:xfrm>
              <a:off x="685800" y="1905000"/>
              <a:ext cx="5257800" cy="2476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905000"/>
              <a:ext cx="5257800" cy="4762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977900" y="2235200"/>
              <a:ext cx="188913" cy="177801"/>
              <a:chOff x="977900" y="2235200"/>
              <a:chExt cx="188913" cy="17780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77900" y="2235200"/>
                <a:ext cx="122238" cy="177801"/>
              </a:xfrm>
              <a:custGeom>
                <a:avLst/>
                <a:gdLst/>
                <a:ahLst/>
                <a:cxnLst/>
                <a:rect l="l" t="t" r="r" b="b"/>
                <a:pathLst>
                  <a:path w="122238" h="177801">
                    <a:moveTo>
                      <a:pt x="122238" y="44450"/>
                    </a:moveTo>
                    <a:lnTo>
                      <a:pt x="122238" y="22225"/>
                    </a:lnTo>
                    <a:cubicBezTo>
                      <a:pt x="122238" y="9950"/>
                      <a:pt x="112287" y="0"/>
                      <a:pt x="100013" y="0"/>
                    </a:cubicBezTo>
                    <a:lnTo>
                      <a:pt x="22225" y="0"/>
                    </a:lnTo>
                    <a:cubicBezTo>
                      <a:pt x="9950" y="0"/>
                      <a:pt x="0" y="9950"/>
                      <a:pt x="0" y="22225"/>
                    </a:cubicBezTo>
                    <a:lnTo>
                      <a:pt x="0" y="155575"/>
                    </a:lnTo>
                    <a:cubicBezTo>
                      <a:pt x="0" y="167850"/>
                      <a:pt x="9950" y="177801"/>
                      <a:pt x="22225" y="177801"/>
                    </a:cubicBezTo>
                    <a:lnTo>
                      <a:pt x="100013" y="177801"/>
                    </a:lnTo>
                    <a:cubicBezTo>
                      <a:pt x="112287" y="177801"/>
                      <a:pt x="122238" y="167850"/>
                      <a:pt x="122238" y="155575"/>
                    </a:cubicBezTo>
                    <a:lnTo>
                      <a:pt x="122238" y="133350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22350" y="2290763"/>
                <a:ext cx="144463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33338">
                    <a:moveTo>
                      <a:pt x="144463" y="33338"/>
                    </a:moveTo>
                    <a:lnTo>
                      <a:pt x="0" y="33338"/>
                    </a:lnTo>
                    <a:lnTo>
                      <a:pt x="33338" y="0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22350" y="2324100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33338" y="33338"/>
                    </a:move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306449" y="2209800"/>
              <a:ext cx="2359212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8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Masuk sebagai petugas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933450" y="28098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17854" y="2724150"/>
              <a:ext cx="15683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Buka halaman Masuk.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33450" y="30765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17854" y="2990850"/>
              <a:ext cx="23241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Isi email dan kata sandi petugas.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33450" y="33432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17854" y="3257550"/>
              <a:ext cx="9930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Tekan Masuk.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33450" y="36099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117854" y="3524250"/>
              <a:ext cx="23526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Menu Admin muncul di navigasi.</a:t>
              </a:r>
            </a:p>
          </p:txBody>
        </p:sp>
      </p:grpSp>
      <p:grpSp>
        <p:nvGrpSpPr>
          <p:cNvPr id="39" name="c2"/>
          <p:cNvGrpSpPr/>
          <p:nvPr/>
        </p:nvGrpSpPr>
        <p:grpSpPr>
          <a:xfrm>
            <a:off x="6248400" y="1905000"/>
            <a:ext cx="5257800" cy="2476500"/>
            <a:chOff x="6248400" y="1905000"/>
            <a:chExt cx="5257800" cy="2476500"/>
          </a:xfrm>
        </p:grpSpPr>
        <p:sp>
          <p:nvSpPr>
            <p:cNvPr id="23" name="Rectangle 23"/>
            <p:cNvSpPr/>
            <p:nvPr/>
          </p:nvSpPr>
          <p:spPr>
            <a:xfrm>
              <a:off x="6248400" y="1905000"/>
              <a:ext cx="5257800" cy="2476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48400" y="1905000"/>
              <a:ext cx="5257800" cy="4762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6529388" y="2235200"/>
              <a:ext cx="200025" cy="187326"/>
              <a:chOff x="6529388" y="2235200"/>
              <a:chExt cx="200025" cy="187326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529388" y="2324100"/>
                <a:ext cx="6667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88900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77788"/>
                    </a:lnTo>
                    <a:cubicBezTo>
                      <a:pt x="66675" y="83925"/>
                      <a:pt x="61700" y="88900"/>
                      <a:pt x="55563" y="88900"/>
                    </a:cubicBezTo>
                    <a:lnTo>
                      <a:pt x="11113" y="88900"/>
                    </a:lnTo>
                    <a:cubicBezTo>
                      <a:pt x="4975" y="88900"/>
                      <a:pt x="0" y="83925"/>
                      <a:pt x="0" y="77788"/>
                    </a:cubicBezTo>
                    <a:lnTo>
                      <a:pt x="0" y="11113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662738" y="2279650"/>
                <a:ext cx="666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33350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122238"/>
                    </a:lnTo>
                    <a:cubicBezTo>
                      <a:pt x="66675" y="128375"/>
                      <a:pt x="61700" y="133350"/>
                      <a:pt x="55563" y="133350"/>
                    </a:cubicBezTo>
                    <a:lnTo>
                      <a:pt x="11113" y="133350"/>
                    </a:lnTo>
                    <a:cubicBezTo>
                      <a:pt x="4975" y="133350"/>
                      <a:pt x="0" y="128375"/>
                      <a:pt x="0" y="122238"/>
                    </a:cubicBezTo>
                    <a:lnTo>
                      <a:pt x="0" y="11113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596063" y="2235200"/>
                <a:ext cx="66675" cy="177801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77801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166688"/>
                    </a:lnTo>
                    <a:cubicBezTo>
                      <a:pt x="66675" y="172825"/>
                      <a:pt x="61700" y="177801"/>
                      <a:pt x="55563" y="177801"/>
                    </a:cubicBezTo>
                    <a:lnTo>
                      <a:pt x="11113" y="177801"/>
                    </a:lnTo>
                    <a:cubicBezTo>
                      <a:pt x="4975" y="177801"/>
                      <a:pt x="0" y="172825"/>
                      <a:pt x="0" y="166688"/>
                    </a:cubicBezTo>
                    <a:lnTo>
                      <a:pt x="0" y="11113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540500" y="2413001"/>
                <a:ext cx="155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9525">
                    <a:moveTo>
                      <a:pt x="0" y="0"/>
                    </a:moveTo>
                    <a:lnTo>
                      <a:pt x="155575" y="0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6869049" y="2209800"/>
              <a:ext cx="98845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8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Isi dasbor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96050" y="28098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80454" y="2724150"/>
              <a:ext cx="19085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Jumlah buku dan anggota.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96050" y="30765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80454" y="2990850"/>
              <a:ext cx="18087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Peminjaman aktif hari ini.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496050" y="33432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80454" y="3257550"/>
              <a:ext cx="11398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Buku terlambat.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96050" y="36099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80454" y="3524250"/>
              <a:ext cx="15336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Reservasi menunggu.</a:t>
              </a:r>
            </a:p>
          </p:txBody>
        </p:sp>
      </p:grpSp>
      <p:grpSp>
        <p:nvGrpSpPr>
          <p:cNvPr id="44" name="s1"/>
          <p:cNvGrpSpPr/>
          <p:nvPr/>
        </p:nvGrpSpPr>
        <p:grpSpPr>
          <a:xfrm>
            <a:off x="685800" y="4762500"/>
            <a:ext cx="3429000" cy="1047750"/>
            <a:chOff x="685800" y="4762500"/>
            <a:chExt cx="3429000" cy="1047750"/>
          </a:xfrm>
        </p:grpSpPr>
        <p:sp>
          <p:nvSpPr>
            <p:cNvPr id="40" name="Rectangle 40"/>
            <p:cNvSpPr/>
            <p:nvPr/>
          </p:nvSpPr>
          <p:spPr>
            <a:xfrm>
              <a:off x="685800" y="4762500"/>
              <a:ext cx="3429000" cy="1047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85800" y="4762500"/>
              <a:ext cx="3429000" cy="4762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22020" y="5016500"/>
              <a:ext cx="94765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2250" b="1" dirty="0">
                  <a:solidFill>
                    <a:srgbClr val="3F5D3A"/>
                  </a:solidFill>
                  <a:latin typeface="+mj-lt"/>
                  <a:ea typeface="+mj-ea"/>
                  <a:cs typeface="+mj-cs"/>
                </a:rPr>
                <a:t>Buku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28497" y="5429250"/>
              <a:ext cx="136061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spc="15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KELOLA KOLEKSI</a:t>
              </a:r>
            </a:p>
          </p:txBody>
        </p:sp>
      </p:grpSp>
      <p:grpSp>
        <p:nvGrpSpPr>
          <p:cNvPr id="49" name="s2"/>
          <p:cNvGrpSpPr/>
          <p:nvPr/>
        </p:nvGrpSpPr>
        <p:grpSpPr>
          <a:xfrm>
            <a:off x="4381500" y="4762500"/>
            <a:ext cx="3429000" cy="1047750"/>
            <a:chOff x="4381500" y="4762500"/>
            <a:chExt cx="3429000" cy="1047750"/>
          </a:xfrm>
        </p:grpSpPr>
        <p:sp>
          <p:nvSpPr>
            <p:cNvPr id="45" name="Rectangle 45"/>
            <p:cNvSpPr/>
            <p:nvPr/>
          </p:nvSpPr>
          <p:spPr>
            <a:xfrm>
              <a:off x="4381500" y="4762500"/>
              <a:ext cx="3429000" cy="1047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4381500" y="4762500"/>
              <a:ext cx="3429000" cy="47625"/>
            </a:xfrm>
            <a:prstGeom prst="rect">
              <a:avLst/>
            </a:prstGeom>
            <a:solidFill>
              <a:srgbClr val="6B8A63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617720" y="5016500"/>
              <a:ext cx="124999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2250" b="1" dirty="0">
                  <a:solidFill>
                    <a:srgbClr val="6B8A63"/>
                  </a:solidFill>
                  <a:latin typeface="+mj-lt"/>
                  <a:ea typeface="+mj-ea"/>
                  <a:cs typeface="+mj-cs"/>
                </a:rPr>
                <a:t>Pinjam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624197" y="5429250"/>
              <a:ext cx="14586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spc="15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CATAT TRANSAKSI</a:t>
              </a:r>
            </a:p>
          </p:txBody>
        </p:sp>
      </p:grpSp>
      <p:grpSp>
        <p:nvGrpSpPr>
          <p:cNvPr id="54" name="s3"/>
          <p:cNvGrpSpPr/>
          <p:nvPr/>
        </p:nvGrpSpPr>
        <p:grpSpPr>
          <a:xfrm>
            <a:off x="8077200" y="4762500"/>
            <a:ext cx="3429000" cy="1047750"/>
            <a:chOff x="8077200" y="4762500"/>
            <a:chExt cx="3429000" cy="1047750"/>
          </a:xfrm>
        </p:grpSpPr>
        <p:sp>
          <p:nvSpPr>
            <p:cNvPr id="50" name="Rectangle 50"/>
            <p:cNvSpPr/>
            <p:nvPr/>
          </p:nvSpPr>
          <p:spPr>
            <a:xfrm>
              <a:off x="8077200" y="4762500"/>
              <a:ext cx="3429000" cy="1047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077200" y="4762500"/>
              <a:ext cx="3429000" cy="47625"/>
            </a:xfrm>
            <a:prstGeom prst="rect">
              <a:avLst/>
            </a:prstGeom>
            <a:solidFill>
              <a:srgbClr val="B08A3E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313420" y="5016500"/>
              <a:ext cx="146764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2250" b="1" dirty="0">
                  <a:solidFill>
                    <a:srgbClr val="B08A3E"/>
                  </a:solidFill>
                  <a:latin typeface="+mj-lt"/>
                  <a:ea typeface="+mj-ea"/>
                  <a:cs typeface="+mj-cs"/>
                </a:rPr>
                <a:t>Laporan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319897" y="5429250"/>
              <a:ext cx="10666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spc="15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EKSPOR DATA</a:t>
              </a:r>
            </a:p>
          </p:txBody>
        </p:sp>
      </p:grpSp>
      <p:grpSp>
        <p:nvGrpSpPr>
          <p:cNvPr id="58" name="ftr"/>
          <p:cNvGrpSpPr/>
          <p:nvPr/>
        </p:nvGrpSpPr>
        <p:grpSpPr>
          <a:xfrm>
            <a:off x="680847" y="6362700"/>
            <a:ext cx="10830306" cy="324993"/>
            <a:chOff x="680847" y="6362700"/>
            <a:chExt cx="10830306" cy="324993"/>
          </a:xfrm>
        </p:grpSpPr>
        <p:sp>
          <p:nvSpPr>
            <p:cNvPr id="55" name="Line 55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80847" y="6496050"/>
              <a:ext cx="24956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Perpustakaan · Panduan Petugas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932747" y="6496050"/>
              <a:ext cx="5784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03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"/>
          <p:cNvGrpSpPr/>
          <p:nvPr/>
        </p:nvGrpSpPr>
        <p:grpSpPr>
          <a:xfrm>
            <a:off x="672084" y="698500"/>
            <a:ext cx="10839069" cy="892175"/>
            <a:chOff x="672084" y="698500"/>
            <a:chExt cx="10839069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680085" y="698500"/>
              <a:ext cx="10560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22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BAGIAN 02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965200"/>
              <a:ext cx="399437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2700" b="1" dirty="0">
                  <a:solidFill>
                    <a:srgbClr val="23201B"/>
                  </a:solidFill>
                  <a:latin typeface="+mj-lt"/>
                  <a:ea typeface="+mj-ea"/>
                  <a:cs typeface="+mj-cs"/>
                </a:rPr>
                <a:t>Mengelola Kategori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052533" y="723900"/>
              <a:ext cx="14586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15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PANDUAN PETUGAS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5811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</p:grpSp>
      <p:grpSp>
        <p:nvGrpSpPr>
          <p:cNvPr id="12" name="st0"/>
          <p:cNvGrpSpPr/>
          <p:nvPr/>
        </p:nvGrpSpPr>
        <p:grpSpPr>
          <a:xfrm>
            <a:off x="685800" y="1809750"/>
            <a:ext cx="10820400" cy="819150"/>
            <a:chOff x="685800" y="1809750"/>
            <a:chExt cx="10820400" cy="819150"/>
          </a:xfrm>
        </p:grpSpPr>
        <p:sp>
          <p:nvSpPr>
            <p:cNvPr id="7" name="Rectangle 7"/>
            <p:cNvSpPr/>
            <p:nvPr/>
          </p:nvSpPr>
          <p:spPr>
            <a:xfrm>
              <a:off x="685800" y="1809750"/>
              <a:ext cx="108204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33450" y="2000250"/>
              <a:ext cx="438150" cy="43815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86666" y="2092325"/>
              <a:ext cx="1317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73530" y="1971675"/>
              <a:ext cx="19658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0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Buka menu Kategori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75054" y="2257425"/>
              <a:ext cx="27029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Tersedia di bilah navigasi area Admin.</a:t>
              </a:r>
            </a:p>
          </p:txBody>
        </p:sp>
      </p:grpSp>
      <p:grpSp>
        <p:nvGrpSpPr>
          <p:cNvPr id="18" name="st1"/>
          <p:cNvGrpSpPr/>
          <p:nvPr/>
        </p:nvGrpSpPr>
        <p:grpSpPr>
          <a:xfrm>
            <a:off x="685800" y="2743200"/>
            <a:ext cx="10820400" cy="819150"/>
            <a:chOff x="685800" y="2743200"/>
            <a:chExt cx="10820400" cy="819150"/>
          </a:xfrm>
        </p:grpSpPr>
        <p:sp>
          <p:nvSpPr>
            <p:cNvPr id="13" name="Rectangle 13"/>
            <p:cNvSpPr/>
            <p:nvPr/>
          </p:nvSpPr>
          <p:spPr>
            <a:xfrm>
              <a:off x="685800" y="2743200"/>
              <a:ext cx="108204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933450" y="2933700"/>
              <a:ext cx="438150" cy="43815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70624" y="3025775"/>
              <a:ext cx="1638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73530" y="2905125"/>
              <a:ext cx="16404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0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Tambah kategori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75054" y="3190875"/>
              <a:ext cx="21637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Isi nama kategori, lalu simpan.</a:t>
              </a:r>
            </a:p>
          </p:txBody>
        </p:sp>
      </p:grpSp>
      <p:grpSp>
        <p:nvGrpSpPr>
          <p:cNvPr id="24" name="st2"/>
          <p:cNvGrpSpPr/>
          <p:nvPr/>
        </p:nvGrpSpPr>
        <p:grpSpPr>
          <a:xfrm>
            <a:off x="685800" y="3676650"/>
            <a:ext cx="10820400" cy="819150"/>
            <a:chOff x="685800" y="3676650"/>
            <a:chExt cx="10820400" cy="819150"/>
          </a:xfrm>
        </p:grpSpPr>
        <p:sp>
          <p:nvSpPr>
            <p:cNvPr id="19" name="Rectangle 19"/>
            <p:cNvSpPr/>
            <p:nvPr/>
          </p:nvSpPr>
          <p:spPr>
            <a:xfrm>
              <a:off x="685800" y="3676650"/>
              <a:ext cx="108204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933450" y="3867150"/>
              <a:ext cx="438150" cy="43815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70859" y="3959225"/>
              <a:ext cx="1633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73530" y="3838575"/>
              <a:ext cx="1374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0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Ubah kategori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75054" y="4124325"/>
              <a:ext cx="214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Klik Ubah pada baris kategori.</a:t>
              </a:r>
            </a:p>
          </p:txBody>
        </p:sp>
      </p:grpSp>
      <p:grpSp>
        <p:nvGrpSpPr>
          <p:cNvPr id="30" name="st3"/>
          <p:cNvGrpSpPr/>
          <p:nvPr/>
        </p:nvGrpSpPr>
        <p:grpSpPr>
          <a:xfrm>
            <a:off x="685800" y="4610100"/>
            <a:ext cx="10820400" cy="819150"/>
            <a:chOff x="685800" y="4610100"/>
            <a:chExt cx="10820400" cy="819150"/>
          </a:xfrm>
        </p:grpSpPr>
        <p:sp>
          <p:nvSpPr>
            <p:cNvPr id="25" name="Rectangle 25"/>
            <p:cNvSpPr/>
            <p:nvPr/>
          </p:nvSpPr>
          <p:spPr>
            <a:xfrm>
              <a:off x="685800" y="4610100"/>
              <a:ext cx="108204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933450" y="4800600"/>
              <a:ext cx="438150" cy="43815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67937" y="4892675"/>
              <a:ext cx="1691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73530" y="4772025"/>
              <a:ext cx="14724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0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Hapus kategori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75054" y="5057775"/>
              <a:ext cx="26286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Hapus hanya bila tidak dipakai buku.</a:t>
              </a:r>
            </a:p>
          </p:txBody>
        </p:sp>
      </p:grpSp>
      <p:grpSp>
        <p:nvGrpSpPr>
          <p:cNvPr id="37" name="n1"/>
          <p:cNvGrpSpPr/>
          <p:nvPr/>
        </p:nvGrpSpPr>
        <p:grpSpPr>
          <a:xfrm>
            <a:off x="685800" y="5676900"/>
            <a:ext cx="10820400" cy="495300"/>
            <a:chOff x="685800" y="5676900"/>
            <a:chExt cx="10820400" cy="495300"/>
          </a:xfrm>
        </p:grpSpPr>
        <p:sp>
          <p:nvSpPr>
            <p:cNvPr id="31" name="Rectangle 31"/>
            <p:cNvSpPr/>
            <p:nvPr/>
          </p:nvSpPr>
          <p:spPr>
            <a:xfrm>
              <a:off x="685800" y="5676900"/>
              <a:ext cx="10820400" cy="495300"/>
            </a:xfrm>
            <a:prstGeom prst="rect">
              <a:avLst/>
            </a:prstGeom>
            <a:solidFill>
              <a:srgbClr val="EFEADD"/>
            </a:solidFill>
            <a:ln w="9525">
              <a:solidFill>
                <a:srgbClr val="D9D2C2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85800" y="5676900"/>
              <a:ext cx="47625" cy="495300"/>
            </a:xfrm>
            <a:prstGeom prst="rect">
              <a:avLst/>
            </a:prstGeom>
            <a:solidFill>
              <a:srgbClr val="B08A3E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945356" y="5831681"/>
              <a:ext cx="188182" cy="188182"/>
              <a:chOff x="945356" y="5831681"/>
              <a:chExt cx="188182" cy="188182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981472" y="5867797"/>
                <a:ext cx="20637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20637">
                    <a:moveTo>
                      <a:pt x="0" y="10319"/>
                    </a:moveTo>
                    <a:cubicBezTo>
                      <a:pt x="0" y="16018"/>
                      <a:pt x="4620" y="20637"/>
                      <a:pt x="10319" y="20637"/>
                    </a:cubicBezTo>
                    <a:cubicBezTo>
                      <a:pt x="16018" y="20637"/>
                      <a:pt x="20637" y="16018"/>
                      <a:pt x="20637" y="10319"/>
                    </a:cubicBezTo>
                    <a:cubicBezTo>
                      <a:pt x="20637" y="4620"/>
                      <a:pt x="16018" y="0"/>
                      <a:pt x="10319" y="0"/>
                    </a:cubicBezTo>
                    <a:cubicBezTo>
                      <a:pt x="4620" y="0"/>
                      <a:pt x="0" y="4620"/>
                      <a:pt x="0" y="10319"/>
                    </a:cubicBezTo>
                  </a:path>
                </a:pathLst>
              </a:custGeom>
              <a:noFill/>
              <a:ln w="20637">
                <a:solidFill>
                  <a:srgbClr val="B08A3E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45356" y="5831681"/>
                <a:ext cx="188182" cy="188182"/>
              </a:xfrm>
              <a:custGeom>
                <a:avLst/>
                <a:gdLst/>
                <a:ahLst/>
                <a:cxnLst/>
                <a:rect l="l" t="t" r="r" b="b"/>
                <a:pathLst>
                  <a:path w="188182" h="188182">
                    <a:moveTo>
                      <a:pt x="0" y="30956"/>
                    </a:moveTo>
                    <a:lnTo>
                      <a:pt x="0" y="84325"/>
                    </a:lnTo>
                    <a:cubicBezTo>
                      <a:pt x="1" y="89798"/>
                      <a:pt x="2176" y="95046"/>
                      <a:pt x="6047" y="98915"/>
                    </a:cubicBezTo>
                    <a:lnTo>
                      <a:pt x="85604" y="178473"/>
                    </a:lnTo>
                    <a:cubicBezTo>
                      <a:pt x="95315" y="188182"/>
                      <a:pt x="111059" y="188182"/>
                      <a:pt x="120770" y="178473"/>
                    </a:cubicBezTo>
                    <a:lnTo>
                      <a:pt x="178473" y="120770"/>
                    </a:lnTo>
                    <a:cubicBezTo>
                      <a:pt x="188182" y="111059"/>
                      <a:pt x="188182" y="95315"/>
                      <a:pt x="178473" y="85604"/>
                    </a:cubicBezTo>
                    <a:lnTo>
                      <a:pt x="98915" y="6047"/>
                    </a:lnTo>
                    <a:cubicBezTo>
                      <a:pt x="95046" y="2176"/>
                      <a:pt x="89798" y="1"/>
                      <a:pt x="84325" y="0"/>
                    </a:cubicBezTo>
                    <a:lnTo>
                      <a:pt x="30956" y="0"/>
                    </a:lnTo>
                    <a:cubicBezTo>
                      <a:pt x="22746" y="0"/>
                      <a:pt x="14872" y="3261"/>
                      <a:pt x="9067" y="9067"/>
                    </a:cubicBezTo>
                    <a:cubicBezTo>
                      <a:pt x="3261" y="14872"/>
                      <a:pt x="0" y="22746"/>
                      <a:pt x="0" y="30956"/>
                    </a:cubicBezTo>
                  </a:path>
                </a:pathLst>
              </a:custGeom>
              <a:noFill/>
              <a:ln w="20637">
                <a:solidFill>
                  <a:srgbClr val="B08A3E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270254" y="5838825"/>
              <a:ext cx="51439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Tiga huruf pertama nama kategori menjadi awalan nomor panggil buku.</a:t>
              </a:r>
            </a:p>
          </p:txBody>
        </p:sp>
      </p:grpSp>
      <p:grpSp>
        <p:nvGrpSpPr>
          <p:cNvPr id="41" name="ftr"/>
          <p:cNvGrpSpPr/>
          <p:nvPr/>
        </p:nvGrpSpPr>
        <p:grpSpPr>
          <a:xfrm>
            <a:off x="680847" y="6362700"/>
            <a:ext cx="10830306" cy="324993"/>
            <a:chOff x="680847" y="6362700"/>
            <a:chExt cx="10830306" cy="324993"/>
          </a:xfrm>
        </p:grpSpPr>
        <p:sp>
          <p:nvSpPr>
            <p:cNvPr id="38" name="Line 38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0847" y="6496050"/>
              <a:ext cx="24956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Perpustakaan · Panduan Petugas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932747" y="6496050"/>
              <a:ext cx="5784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04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"/>
          <p:cNvGrpSpPr/>
          <p:nvPr/>
        </p:nvGrpSpPr>
        <p:grpSpPr>
          <a:xfrm>
            <a:off x="672084" y="698500"/>
            <a:ext cx="10839069" cy="892175"/>
            <a:chOff x="672084" y="698500"/>
            <a:chExt cx="10839069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680085" y="698500"/>
              <a:ext cx="10560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22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BAGIAN 03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965200"/>
              <a:ext cx="353328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2700" b="1" dirty="0">
                  <a:solidFill>
                    <a:srgbClr val="23201B"/>
                  </a:solidFill>
                  <a:latin typeface="+mj-lt"/>
                  <a:ea typeface="+mj-ea"/>
                  <a:cs typeface="+mj-cs"/>
                </a:rPr>
                <a:t>Menambah Buku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052533" y="723900"/>
              <a:ext cx="14586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15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PANDUAN PETUGAS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5811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</p:grpSp>
      <p:grpSp>
        <p:nvGrpSpPr>
          <p:cNvPr id="12" name="st0"/>
          <p:cNvGrpSpPr/>
          <p:nvPr/>
        </p:nvGrpSpPr>
        <p:grpSpPr>
          <a:xfrm>
            <a:off x="685800" y="1809750"/>
            <a:ext cx="10820400" cy="819150"/>
            <a:chOff x="685800" y="1809750"/>
            <a:chExt cx="10820400" cy="819150"/>
          </a:xfrm>
        </p:grpSpPr>
        <p:sp>
          <p:nvSpPr>
            <p:cNvPr id="7" name="Rectangle 7"/>
            <p:cNvSpPr/>
            <p:nvPr/>
          </p:nvSpPr>
          <p:spPr>
            <a:xfrm>
              <a:off x="685800" y="1809750"/>
              <a:ext cx="108204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33450" y="2000250"/>
              <a:ext cx="438150" cy="43815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86666" y="2092325"/>
              <a:ext cx="1317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73530" y="1971675"/>
              <a:ext cx="16402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0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Buka menu Buku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75054" y="2257425"/>
              <a:ext cx="3298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Pilih Tambah Buku pada halaman daftar buku.</a:t>
              </a:r>
            </a:p>
          </p:txBody>
        </p:sp>
      </p:grpSp>
      <p:grpSp>
        <p:nvGrpSpPr>
          <p:cNvPr id="18" name="st1"/>
          <p:cNvGrpSpPr/>
          <p:nvPr/>
        </p:nvGrpSpPr>
        <p:grpSpPr>
          <a:xfrm>
            <a:off x="685800" y="2743200"/>
            <a:ext cx="10820400" cy="819150"/>
            <a:chOff x="685800" y="2743200"/>
            <a:chExt cx="10820400" cy="819150"/>
          </a:xfrm>
        </p:grpSpPr>
        <p:sp>
          <p:nvSpPr>
            <p:cNvPr id="13" name="Rectangle 13"/>
            <p:cNvSpPr/>
            <p:nvPr/>
          </p:nvSpPr>
          <p:spPr>
            <a:xfrm>
              <a:off x="685800" y="2743200"/>
              <a:ext cx="108204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933450" y="2933700"/>
              <a:ext cx="438150" cy="43815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70624" y="3025775"/>
              <a:ext cx="1638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73530" y="2905125"/>
              <a:ext cx="12465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0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Isi data buku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75054" y="3190875"/>
              <a:ext cx="33045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Judul, penulis, kategori, tahun, ISBN, dan stok.</a:t>
              </a:r>
            </a:p>
          </p:txBody>
        </p:sp>
      </p:grpSp>
      <p:grpSp>
        <p:nvGrpSpPr>
          <p:cNvPr id="24" name="st2"/>
          <p:cNvGrpSpPr/>
          <p:nvPr/>
        </p:nvGrpSpPr>
        <p:grpSpPr>
          <a:xfrm>
            <a:off x="685800" y="3676650"/>
            <a:ext cx="10820400" cy="819150"/>
            <a:chOff x="685800" y="3676650"/>
            <a:chExt cx="10820400" cy="819150"/>
          </a:xfrm>
        </p:grpSpPr>
        <p:sp>
          <p:nvSpPr>
            <p:cNvPr id="19" name="Rectangle 19"/>
            <p:cNvSpPr/>
            <p:nvPr/>
          </p:nvSpPr>
          <p:spPr>
            <a:xfrm>
              <a:off x="685800" y="3676650"/>
              <a:ext cx="108204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933450" y="3867150"/>
              <a:ext cx="438150" cy="43815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70859" y="3959225"/>
              <a:ext cx="1633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73530" y="3838575"/>
              <a:ext cx="12720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0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Simpan buku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75054" y="4124325"/>
              <a:ext cx="30370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Buku muncul di katalog dan siap dipinjam.</a:t>
              </a:r>
            </a:p>
          </p:txBody>
        </p:sp>
      </p:grpSp>
      <p:grpSp>
        <p:nvGrpSpPr>
          <p:cNvPr id="30" name="st3"/>
          <p:cNvGrpSpPr/>
          <p:nvPr/>
        </p:nvGrpSpPr>
        <p:grpSpPr>
          <a:xfrm>
            <a:off x="685800" y="4610100"/>
            <a:ext cx="10820400" cy="819150"/>
            <a:chOff x="685800" y="4610100"/>
            <a:chExt cx="10820400" cy="819150"/>
          </a:xfrm>
        </p:grpSpPr>
        <p:sp>
          <p:nvSpPr>
            <p:cNvPr id="25" name="Rectangle 25"/>
            <p:cNvSpPr/>
            <p:nvPr/>
          </p:nvSpPr>
          <p:spPr>
            <a:xfrm>
              <a:off x="685800" y="4610100"/>
              <a:ext cx="108204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933450" y="4800600"/>
              <a:ext cx="438150" cy="43815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67937" y="4892675"/>
              <a:ext cx="1691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73530" y="4772025"/>
              <a:ext cx="21697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0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Periksa nomor panggil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75054" y="5057775"/>
              <a:ext cx="32022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Sistem membentuk nomor panggil otomatis.</a:t>
              </a:r>
            </a:p>
          </p:txBody>
        </p:sp>
      </p:grpSp>
      <p:grpSp>
        <p:nvGrpSpPr>
          <p:cNvPr id="38" name="n1"/>
          <p:cNvGrpSpPr/>
          <p:nvPr/>
        </p:nvGrpSpPr>
        <p:grpSpPr>
          <a:xfrm>
            <a:off x="685800" y="5676900"/>
            <a:ext cx="10820400" cy="495300"/>
            <a:chOff x="685800" y="5676900"/>
            <a:chExt cx="10820400" cy="495300"/>
          </a:xfrm>
        </p:grpSpPr>
        <p:sp>
          <p:nvSpPr>
            <p:cNvPr id="31" name="Rectangle 31"/>
            <p:cNvSpPr/>
            <p:nvPr/>
          </p:nvSpPr>
          <p:spPr>
            <a:xfrm>
              <a:off x="685800" y="5676900"/>
              <a:ext cx="10820400" cy="495300"/>
            </a:xfrm>
            <a:prstGeom prst="rect">
              <a:avLst/>
            </a:prstGeom>
            <a:solidFill>
              <a:srgbClr val="EFEADD"/>
            </a:solidFill>
            <a:ln w="9525">
              <a:solidFill>
                <a:srgbClr val="D9D2C2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85800" y="5676900"/>
              <a:ext cx="47625" cy="495300"/>
            </a:xfrm>
            <a:prstGeom prst="rect">
              <a:avLst/>
            </a:prstGeom>
            <a:solidFill>
              <a:srgbClr val="9E4B2E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34159" y="5828253"/>
              <a:ext cx="208123" cy="178805"/>
              <a:chOff x="934159" y="5828253"/>
              <a:chExt cx="208123" cy="17880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1038225" y="5893593"/>
                <a:ext cx="95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275">
                    <a:moveTo>
                      <a:pt x="0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20637">
                <a:solidFill>
                  <a:srgbClr val="9E4B2E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34159" y="5828253"/>
                <a:ext cx="208123" cy="178805"/>
              </a:xfrm>
              <a:custGeom>
                <a:avLst/>
                <a:gdLst/>
                <a:ahLst/>
                <a:cxnLst/>
                <a:rect l="l" t="t" r="r" b="b"/>
                <a:pathLst>
                  <a:path w="208123" h="178805">
                    <a:moveTo>
                      <a:pt x="87174" y="9526"/>
                    </a:moveTo>
                    <a:lnTo>
                      <a:pt x="3530" y="149180"/>
                    </a:lnTo>
                    <a:cubicBezTo>
                      <a:pt x="21" y="155256"/>
                      <a:pt x="0" y="162738"/>
                      <a:pt x="3474" y="168834"/>
                    </a:cubicBezTo>
                    <a:cubicBezTo>
                      <a:pt x="6948" y="174931"/>
                      <a:pt x="13395" y="178726"/>
                      <a:pt x="20412" y="178805"/>
                    </a:cubicBezTo>
                    <a:lnTo>
                      <a:pt x="187719" y="178805"/>
                    </a:lnTo>
                    <a:cubicBezTo>
                      <a:pt x="194732" y="178724"/>
                      <a:pt x="201176" y="174930"/>
                      <a:pt x="204650" y="168837"/>
                    </a:cubicBezTo>
                    <a:cubicBezTo>
                      <a:pt x="208123" y="162744"/>
                      <a:pt x="208104" y="155266"/>
                      <a:pt x="204601" y="149190"/>
                    </a:cubicBezTo>
                    <a:lnTo>
                      <a:pt x="120957" y="9516"/>
                    </a:lnTo>
                    <a:cubicBezTo>
                      <a:pt x="117378" y="3609"/>
                      <a:pt x="110973" y="0"/>
                      <a:pt x="104065" y="0"/>
                    </a:cubicBezTo>
                    <a:cubicBezTo>
                      <a:pt x="97158" y="0"/>
                      <a:pt x="90753" y="3609"/>
                      <a:pt x="87174" y="9516"/>
                    </a:cubicBezTo>
                  </a:path>
                </a:pathLst>
              </a:custGeom>
              <a:noFill/>
              <a:ln w="20637">
                <a:solidFill>
                  <a:srgbClr val="9E4B2E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038225" y="5965824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03" y="0"/>
                    </a:lnTo>
                  </a:path>
                </a:pathLst>
              </a:custGeom>
              <a:noFill/>
              <a:ln w="20637">
                <a:solidFill>
                  <a:srgbClr val="9E4B2E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270254" y="5838825"/>
              <a:ext cx="54307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ISBN harus unik. Sistem menolak ISBN yang sudah terdaftar pada buku lain.</a:t>
              </a:r>
            </a:p>
          </p:txBody>
        </p:sp>
      </p:grpSp>
      <p:grpSp>
        <p:nvGrpSpPr>
          <p:cNvPr id="42" name="ftr"/>
          <p:cNvGrpSpPr/>
          <p:nvPr/>
        </p:nvGrpSpPr>
        <p:grpSpPr>
          <a:xfrm>
            <a:off x="680847" y="6362700"/>
            <a:ext cx="10830306" cy="324993"/>
            <a:chOff x="680847" y="6362700"/>
            <a:chExt cx="10830306" cy="324993"/>
          </a:xfrm>
        </p:grpSpPr>
        <p:sp>
          <p:nvSpPr>
            <p:cNvPr id="39" name="Line 39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0847" y="6496050"/>
              <a:ext cx="24956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Perpustakaan · Panduan Petugas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932747" y="6496050"/>
              <a:ext cx="5784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05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"/>
          <p:cNvGrpSpPr/>
          <p:nvPr/>
        </p:nvGrpSpPr>
        <p:grpSpPr>
          <a:xfrm>
            <a:off x="672084" y="698500"/>
            <a:ext cx="10839069" cy="892175"/>
            <a:chOff x="672084" y="698500"/>
            <a:chExt cx="10839069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680085" y="698500"/>
              <a:ext cx="10560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22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BAGIAN 04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965200"/>
              <a:ext cx="626040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2700" b="1" dirty="0">
                  <a:solidFill>
                    <a:srgbClr val="23201B"/>
                  </a:solidFill>
                  <a:latin typeface="+mj-lt"/>
                  <a:ea typeface="+mj-ea"/>
                  <a:cs typeface="+mj-cs"/>
                </a:rPr>
                <a:t>Mengubah &amp; Menghapus Buku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052533" y="723900"/>
              <a:ext cx="14586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15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PANDUAN PETUGAS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5811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</p:grpSp>
      <p:grpSp>
        <p:nvGrpSpPr>
          <p:cNvPr id="22" name="c1"/>
          <p:cNvGrpSpPr/>
          <p:nvPr/>
        </p:nvGrpSpPr>
        <p:grpSpPr>
          <a:xfrm>
            <a:off x="685800" y="1905000"/>
            <a:ext cx="5257800" cy="2857500"/>
            <a:chOff x="685800" y="1905000"/>
            <a:chExt cx="5257800" cy="2857500"/>
          </a:xfrm>
        </p:grpSpPr>
        <p:sp>
          <p:nvSpPr>
            <p:cNvPr id="7" name="Rectangle 7"/>
            <p:cNvSpPr/>
            <p:nvPr/>
          </p:nvSpPr>
          <p:spPr>
            <a:xfrm>
              <a:off x="685800" y="1905000"/>
              <a:ext cx="5257800" cy="2857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905000"/>
              <a:ext cx="5257800" cy="4762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977900" y="2221808"/>
              <a:ext cx="191193" cy="191193"/>
              <a:chOff x="977900" y="2221808"/>
              <a:chExt cx="191193" cy="19119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77900" y="2268538"/>
                <a:ext cx="144463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144463">
                    <a:moveTo>
                      <a:pt x="33338" y="0"/>
                    </a:moveTo>
                    <a:lnTo>
                      <a:pt x="22225" y="0"/>
                    </a:lnTo>
                    <a:cubicBezTo>
                      <a:pt x="9950" y="0"/>
                      <a:pt x="0" y="9950"/>
                      <a:pt x="0" y="22225"/>
                    </a:cubicBezTo>
                    <a:lnTo>
                      <a:pt x="0" y="122238"/>
                    </a:lnTo>
                    <a:cubicBezTo>
                      <a:pt x="0" y="134512"/>
                      <a:pt x="9950" y="144463"/>
                      <a:pt x="22225" y="144463"/>
                    </a:cubicBezTo>
                    <a:lnTo>
                      <a:pt x="122238" y="144463"/>
                    </a:lnTo>
                    <a:cubicBezTo>
                      <a:pt x="134512" y="144463"/>
                      <a:pt x="144463" y="134512"/>
                      <a:pt x="144463" y="122238"/>
                    </a:cubicBezTo>
                    <a:lnTo>
                      <a:pt x="144463" y="111125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33463" y="2221808"/>
                <a:ext cx="135630" cy="135630"/>
              </a:xfrm>
              <a:custGeom>
                <a:avLst/>
                <a:gdLst/>
                <a:ahLst/>
                <a:cxnLst/>
                <a:rect l="l" t="t" r="r" b="b"/>
                <a:pathLst>
                  <a:path w="135630" h="135630">
                    <a:moveTo>
                      <a:pt x="126516" y="42118"/>
                    </a:moveTo>
                    <a:cubicBezTo>
                      <a:pt x="135630" y="33004"/>
                      <a:pt x="135630" y="18228"/>
                      <a:pt x="126516" y="9114"/>
                    </a:cubicBezTo>
                    <a:cubicBezTo>
                      <a:pt x="117402" y="0"/>
                      <a:pt x="102626" y="0"/>
                      <a:pt x="93512" y="9114"/>
                    </a:cubicBezTo>
                    <a:lnTo>
                      <a:pt x="0" y="102292"/>
                    </a:lnTo>
                    <a:lnTo>
                      <a:pt x="0" y="135630"/>
                    </a:lnTo>
                    <a:lnTo>
                      <a:pt x="33338" y="135630"/>
                    </a:lnTo>
                    <a:lnTo>
                      <a:pt x="126516" y="42118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11251" y="2246313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0"/>
                    </a:moveTo>
                    <a:lnTo>
                      <a:pt x="33338" y="33338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306449" y="2209800"/>
              <a:ext cx="21746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8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Mengubah data buku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933450" y="28098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17854" y="2724150"/>
              <a:ext cx="22749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Buka detail buku di menu Buku.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33450" y="30765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17854" y="2990850"/>
              <a:ext cx="1998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Klik Ubah, lalu sunting data.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33450" y="33432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17854" y="3257550"/>
              <a:ext cx="13985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Simpan perubahan.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33450" y="36099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117854" y="3524250"/>
              <a:ext cx="16813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Katalog ikut diperbarui.</a:t>
              </a:r>
            </a:p>
          </p:txBody>
        </p:sp>
      </p:grpSp>
      <p:grpSp>
        <p:nvGrpSpPr>
          <p:cNvPr id="38" name="c2"/>
          <p:cNvGrpSpPr/>
          <p:nvPr/>
        </p:nvGrpSpPr>
        <p:grpSpPr>
          <a:xfrm>
            <a:off x="6248400" y="1905000"/>
            <a:ext cx="5257800" cy="2857500"/>
            <a:chOff x="6248400" y="1905000"/>
            <a:chExt cx="5257800" cy="2857500"/>
          </a:xfrm>
        </p:grpSpPr>
        <p:sp>
          <p:nvSpPr>
            <p:cNvPr id="23" name="Rectangle 23"/>
            <p:cNvSpPr/>
            <p:nvPr/>
          </p:nvSpPr>
          <p:spPr>
            <a:xfrm>
              <a:off x="6248400" y="1905000"/>
              <a:ext cx="5257800" cy="2857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48400" y="1905000"/>
              <a:ext cx="5257800" cy="47625"/>
            </a:xfrm>
            <a:prstGeom prst="rect">
              <a:avLst/>
            </a:prstGeom>
            <a:solidFill>
              <a:srgbClr val="9E4B2E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6540500" y="2224088"/>
              <a:ext cx="177801" cy="200025"/>
              <a:chOff x="6540500" y="2224088"/>
              <a:chExt cx="177801" cy="20002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540500" y="2268538"/>
                <a:ext cx="17780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9525">
                    <a:moveTo>
                      <a:pt x="0" y="0"/>
                    </a:move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rgbClr val="9E4B2E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607175" y="2312988"/>
                <a:ext cx="95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6675">
                    <a:moveTo>
                      <a:pt x="0" y="0"/>
                    </a:moveTo>
                    <a:lnTo>
                      <a:pt x="0" y="66675"/>
                    </a:lnTo>
                  </a:path>
                </a:pathLst>
              </a:custGeom>
              <a:noFill/>
              <a:ln w="22225">
                <a:solidFill>
                  <a:srgbClr val="9E4B2E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651625" y="2312988"/>
                <a:ext cx="95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6675">
                    <a:moveTo>
                      <a:pt x="0" y="0"/>
                    </a:moveTo>
                    <a:lnTo>
                      <a:pt x="0" y="66675"/>
                    </a:lnTo>
                  </a:path>
                </a:pathLst>
              </a:custGeom>
              <a:noFill/>
              <a:ln w="22225">
                <a:solidFill>
                  <a:srgbClr val="9E4B2E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551613" y="2268538"/>
                <a:ext cx="15557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55575">
                    <a:moveTo>
                      <a:pt x="0" y="0"/>
                    </a:moveTo>
                    <a:lnTo>
                      <a:pt x="11113" y="133350"/>
                    </a:lnTo>
                    <a:cubicBezTo>
                      <a:pt x="11113" y="145625"/>
                      <a:pt x="21063" y="155575"/>
                      <a:pt x="33338" y="155575"/>
                    </a:cubicBezTo>
                    <a:lnTo>
                      <a:pt x="122238" y="155575"/>
                    </a:lnTo>
                    <a:cubicBezTo>
                      <a:pt x="134512" y="155575"/>
                      <a:pt x="144463" y="145625"/>
                      <a:pt x="144463" y="133350"/>
                    </a:cubicBezTo>
                    <a:lnTo>
                      <a:pt x="155575" y="0"/>
                    </a:lnTo>
                  </a:path>
                </a:pathLst>
              </a:custGeom>
              <a:noFill/>
              <a:ln w="22225">
                <a:solidFill>
                  <a:srgbClr val="9E4B2E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596063" y="222408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44450"/>
                    </a:moveTo>
                    <a:lnTo>
                      <a:pt x="0" y="11113"/>
                    </a:lnTo>
                    <a:cubicBezTo>
                      <a:pt x="0" y="4975"/>
                      <a:pt x="4975" y="0"/>
                      <a:pt x="11113" y="0"/>
                    </a:cubicBez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44450"/>
                    </a:lnTo>
                  </a:path>
                </a:pathLst>
              </a:custGeom>
              <a:noFill/>
              <a:ln w="22225">
                <a:solidFill>
                  <a:srgbClr val="9E4B2E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6869049" y="2209800"/>
              <a:ext cx="176608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8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Menghapus buku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96050" y="2809875"/>
              <a:ext cx="66675" cy="66675"/>
            </a:xfrm>
            <a:prstGeom prst="rect">
              <a:avLst/>
            </a:prstGeom>
            <a:solidFill>
              <a:srgbClr val="9E4B2E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80454" y="2724150"/>
              <a:ext cx="19920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Klik Hapus pada baris buku.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96050" y="3076575"/>
              <a:ext cx="66675" cy="66675"/>
            </a:xfrm>
            <a:prstGeom prst="rect">
              <a:avLst/>
            </a:prstGeom>
            <a:solidFill>
              <a:srgbClr val="9E4B2E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80454" y="2990850"/>
              <a:ext cx="18191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Konfirmasi penghapusan.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96050" y="3343275"/>
              <a:ext cx="66675" cy="66675"/>
            </a:xfrm>
            <a:prstGeom prst="rect">
              <a:avLst/>
            </a:prstGeom>
            <a:solidFill>
              <a:srgbClr val="9E4B2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80454" y="3257550"/>
              <a:ext cx="28630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Riwayat pinjaman lama tetap tersimpan.</a:t>
              </a:r>
            </a:p>
          </p:txBody>
        </p:sp>
      </p:grpSp>
      <p:grpSp>
        <p:nvGrpSpPr>
          <p:cNvPr id="52" name="n1"/>
          <p:cNvGrpSpPr/>
          <p:nvPr/>
        </p:nvGrpSpPr>
        <p:grpSpPr>
          <a:xfrm>
            <a:off x="685800" y="5143500"/>
            <a:ext cx="10820400" cy="762000"/>
            <a:chOff x="685800" y="5143500"/>
            <a:chExt cx="10820400" cy="762000"/>
          </a:xfrm>
        </p:grpSpPr>
        <p:sp>
          <p:nvSpPr>
            <p:cNvPr id="39" name="Rectangle 39"/>
            <p:cNvSpPr/>
            <p:nvPr/>
          </p:nvSpPr>
          <p:spPr>
            <a:xfrm>
              <a:off x="685800" y="5143500"/>
              <a:ext cx="10820400" cy="762000"/>
            </a:xfrm>
            <a:prstGeom prst="rect">
              <a:avLst/>
            </a:prstGeom>
            <a:solidFill>
              <a:srgbClr val="EFEADD"/>
            </a:solidFill>
            <a:ln w="9525">
              <a:solidFill>
                <a:srgbClr val="D9D2C2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85800" y="5143500"/>
              <a:ext cx="47625" cy="76200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955675" y="5441950"/>
              <a:ext cx="165099" cy="165100"/>
              <a:chOff x="955675" y="5441950"/>
              <a:chExt cx="165099" cy="1651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955675" y="5483225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7"/>
                    </a:moveTo>
                    <a:cubicBezTo>
                      <a:pt x="0" y="32035"/>
                      <a:pt x="9240" y="41275"/>
                      <a:pt x="20637" y="41275"/>
                    </a:cubicBez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7"/>
                    </a:cubicBezTo>
                  </a:path>
                </a:pathLst>
              </a:custGeom>
              <a:noFill/>
              <a:ln w="20637">
                <a:solidFill>
                  <a:srgbClr val="3F5D3A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76312" y="5441950"/>
                <a:ext cx="95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275">
                    <a:moveTo>
                      <a:pt x="0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20637">
                <a:solidFill>
                  <a:srgbClr val="3F5D3A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76312" y="5524500"/>
                <a:ext cx="952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2550">
                    <a:moveTo>
                      <a:pt x="0" y="0"/>
                    </a:moveTo>
                    <a:lnTo>
                      <a:pt x="0" y="82550"/>
                    </a:lnTo>
                  </a:path>
                </a:pathLst>
              </a:custGeom>
              <a:noFill/>
              <a:ln w="20637">
                <a:solidFill>
                  <a:srgbClr val="3F5D3A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017587" y="5545137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7"/>
                    </a:moveTo>
                    <a:cubicBezTo>
                      <a:pt x="0" y="32035"/>
                      <a:pt x="9240" y="41275"/>
                      <a:pt x="20637" y="41275"/>
                    </a:cubicBez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7"/>
                    </a:cubicBezTo>
                  </a:path>
                </a:pathLst>
              </a:custGeom>
              <a:noFill/>
              <a:ln w="20637">
                <a:solidFill>
                  <a:srgbClr val="3F5D3A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038225" y="5441950"/>
                <a:ext cx="9525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3187">
                    <a:moveTo>
                      <a:pt x="0" y="0"/>
                    </a:moveTo>
                    <a:lnTo>
                      <a:pt x="0" y="103187"/>
                    </a:lnTo>
                  </a:path>
                </a:pathLst>
              </a:custGeom>
              <a:noFill/>
              <a:ln w="20637">
                <a:solidFill>
                  <a:srgbClr val="3F5D3A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038225" y="5586412"/>
                <a:ext cx="9525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">
                    <a:moveTo>
                      <a:pt x="0" y="0"/>
                    </a:moveTo>
                    <a:lnTo>
                      <a:pt x="0" y="20637"/>
                    </a:lnTo>
                  </a:path>
                </a:pathLst>
              </a:custGeom>
              <a:noFill/>
              <a:ln w="20637">
                <a:solidFill>
                  <a:srgbClr val="3F5D3A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079499" y="5452269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7"/>
                    </a:moveTo>
                    <a:cubicBezTo>
                      <a:pt x="0" y="32035"/>
                      <a:pt x="9240" y="41275"/>
                      <a:pt x="20637" y="41275"/>
                    </a:cubicBez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7"/>
                    </a:cubicBezTo>
                  </a:path>
                </a:pathLst>
              </a:custGeom>
              <a:noFill/>
              <a:ln w="20637">
                <a:solidFill>
                  <a:srgbClr val="3F5D3A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1100137" y="5441950"/>
                <a:ext cx="9525" cy="103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319">
                    <a:moveTo>
                      <a:pt x="0" y="0"/>
                    </a:moveTo>
                    <a:lnTo>
                      <a:pt x="0" y="10319"/>
                    </a:lnTo>
                  </a:path>
                </a:pathLst>
              </a:custGeom>
              <a:noFill/>
              <a:ln w="20637">
                <a:solidFill>
                  <a:srgbClr val="3F5D3A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1100137" y="5493543"/>
                <a:ext cx="9525" cy="11350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3506">
                    <a:moveTo>
                      <a:pt x="0" y="0"/>
                    </a:moveTo>
                    <a:lnTo>
                      <a:pt x="0" y="113506"/>
                    </a:lnTo>
                  </a:path>
                </a:pathLst>
              </a:custGeom>
              <a:noFill/>
              <a:ln w="20637">
                <a:solidFill>
                  <a:srgbClr val="3F5D3A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270254" y="5438775"/>
              <a:ext cx="55896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Untuk menyesuaikan koleksi tanpa menghapus, cukup ubah jumlah stok buku.</a:t>
              </a:r>
            </a:p>
          </p:txBody>
        </p:sp>
      </p:grpSp>
      <p:grpSp>
        <p:nvGrpSpPr>
          <p:cNvPr id="56" name="ftr"/>
          <p:cNvGrpSpPr/>
          <p:nvPr/>
        </p:nvGrpSpPr>
        <p:grpSpPr>
          <a:xfrm>
            <a:off x="680847" y="6362700"/>
            <a:ext cx="10830306" cy="324993"/>
            <a:chOff x="680847" y="6362700"/>
            <a:chExt cx="10830306" cy="324993"/>
          </a:xfrm>
        </p:grpSpPr>
        <p:sp>
          <p:nvSpPr>
            <p:cNvPr id="53" name="Line 53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0847" y="6496050"/>
              <a:ext cx="24956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Perpustakaan · Panduan Petugas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932747" y="6496050"/>
              <a:ext cx="5784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06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"/>
          <p:cNvGrpSpPr/>
          <p:nvPr/>
        </p:nvGrpSpPr>
        <p:grpSpPr>
          <a:xfrm>
            <a:off x="672084" y="698500"/>
            <a:ext cx="10839069" cy="892175"/>
            <a:chOff x="672084" y="698500"/>
            <a:chExt cx="10839069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680085" y="698500"/>
              <a:ext cx="10560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22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BAGIAN 05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965200"/>
              <a:ext cx="46009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2700" b="1" dirty="0">
                  <a:solidFill>
                    <a:srgbClr val="23201B"/>
                  </a:solidFill>
                  <a:latin typeface="+mj-lt"/>
                  <a:ea typeface="+mj-ea"/>
                  <a:cs typeface="+mj-cs"/>
                </a:rPr>
                <a:t>Mencatat Peminjaman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052533" y="723900"/>
              <a:ext cx="14586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15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PANDUAN PETUGAS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5811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</p:grpSp>
      <p:grpSp>
        <p:nvGrpSpPr>
          <p:cNvPr id="12" name="st0"/>
          <p:cNvGrpSpPr/>
          <p:nvPr/>
        </p:nvGrpSpPr>
        <p:grpSpPr>
          <a:xfrm>
            <a:off x="685800" y="1809750"/>
            <a:ext cx="10820400" cy="819150"/>
            <a:chOff x="685800" y="1809750"/>
            <a:chExt cx="10820400" cy="819150"/>
          </a:xfrm>
        </p:grpSpPr>
        <p:sp>
          <p:nvSpPr>
            <p:cNvPr id="7" name="Rectangle 7"/>
            <p:cNvSpPr/>
            <p:nvPr/>
          </p:nvSpPr>
          <p:spPr>
            <a:xfrm>
              <a:off x="685800" y="1809750"/>
              <a:ext cx="108204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33450" y="2000250"/>
              <a:ext cx="438150" cy="43815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86666" y="2092325"/>
              <a:ext cx="1317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73530" y="1971675"/>
              <a:ext cx="23325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0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Buka menu Peminjaman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75054" y="2257425"/>
              <a:ext cx="19034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Pilih Tambah Peminjaman.</a:t>
              </a:r>
            </a:p>
          </p:txBody>
        </p:sp>
      </p:grpSp>
      <p:grpSp>
        <p:nvGrpSpPr>
          <p:cNvPr id="18" name="st1"/>
          <p:cNvGrpSpPr/>
          <p:nvPr/>
        </p:nvGrpSpPr>
        <p:grpSpPr>
          <a:xfrm>
            <a:off x="685800" y="2743200"/>
            <a:ext cx="10820400" cy="819150"/>
            <a:chOff x="685800" y="2743200"/>
            <a:chExt cx="10820400" cy="819150"/>
          </a:xfrm>
        </p:grpSpPr>
        <p:sp>
          <p:nvSpPr>
            <p:cNvPr id="13" name="Rectangle 13"/>
            <p:cNvSpPr/>
            <p:nvPr/>
          </p:nvSpPr>
          <p:spPr>
            <a:xfrm>
              <a:off x="685800" y="2743200"/>
              <a:ext cx="108204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933450" y="2933700"/>
              <a:ext cx="438150" cy="43815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70624" y="3025775"/>
              <a:ext cx="1638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73530" y="2905125"/>
              <a:ext cx="22365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0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Pilih anggota dan buku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75054" y="3190875"/>
              <a:ext cx="30510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Cari anggota, lalu pilih buku yang tersedia.</a:t>
              </a:r>
            </a:p>
          </p:txBody>
        </p:sp>
      </p:grpSp>
      <p:grpSp>
        <p:nvGrpSpPr>
          <p:cNvPr id="24" name="st2"/>
          <p:cNvGrpSpPr/>
          <p:nvPr/>
        </p:nvGrpSpPr>
        <p:grpSpPr>
          <a:xfrm>
            <a:off x="685800" y="3676650"/>
            <a:ext cx="10820400" cy="819150"/>
            <a:chOff x="685800" y="3676650"/>
            <a:chExt cx="10820400" cy="819150"/>
          </a:xfrm>
        </p:grpSpPr>
        <p:sp>
          <p:nvSpPr>
            <p:cNvPr id="19" name="Rectangle 19"/>
            <p:cNvSpPr/>
            <p:nvPr/>
          </p:nvSpPr>
          <p:spPr>
            <a:xfrm>
              <a:off x="685800" y="3676650"/>
              <a:ext cx="108204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933450" y="3867150"/>
              <a:ext cx="438150" cy="43815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70859" y="3959225"/>
              <a:ext cx="1633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73530" y="3838575"/>
              <a:ext cx="16864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0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Tetapkan tanggal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75054" y="4124325"/>
              <a:ext cx="35769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Jatuh tempo otomatis 14 hari dari tanggal pinjam.</a:t>
              </a:r>
            </a:p>
          </p:txBody>
        </p:sp>
      </p:grpSp>
      <p:grpSp>
        <p:nvGrpSpPr>
          <p:cNvPr id="30" name="st3"/>
          <p:cNvGrpSpPr/>
          <p:nvPr/>
        </p:nvGrpSpPr>
        <p:grpSpPr>
          <a:xfrm>
            <a:off x="685800" y="4610100"/>
            <a:ext cx="10820400" cy="819150"/>
            <a:chOff x="685800" y="4610100"/>
            <a:chExt cx="10820400" cy="819150"/>
          </a:xfrm>
        </p:grpSpPr>
        <p:sp>
          <p:nvSpPr>
            <p:cNvPr id="25" name="Rectangle 25"/>
            <p:cNvSpPr/>
            <p:nvPr/>
          </p:nvSpPr>
          <p:spPr>
            <a:xfrm>
              <a:off x="685800" y="4610100"/>
              <a:ext cx="108204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933450" y="4800600"/>
              <a:ext cx="438150" cy="43815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67937" y="4892675"/>
              <a:ext cx="1691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73530" y="4772025"/>
              <a:ext cx="2184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0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Klik Catat Peminjaman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75054" y="5057775"/>
              <a:ext cx="30837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Stok berkurang dan tercatat pada anggota.</a:t>
              </a:r>
            </a:p>
          </p:txBody>
        </p:sp>
      </p:grpSp>
      <p:grpSp>
        <p:nvGrpSpPr>
          <p:cNvPr id="38" name="n1"/>
          <p:cNvGrpSpPr/>
          <p:nvPr/>
        </p:nvGrpSpPr>
        <p:grpSpPr>
          <a:xfrm>
            <a:off x="685800" y="5676900"/>
            <a:ext cx="10820400" cy="495300"/>
            <a:chOff x="685800" y="5676900"/>
            <a:chExt cx="10820400" cy="495300"/>
          </a:xfrm>
        </p:grpSpPr>
        <p:sp>
          <p:nvSpPr>
            <p:cNvPr id="31" name="Rectangle 31"/>
            <p:cNvSpPr/>
            <p:nvPr/>
          </p:nvSpPr>
          <p:spPr>
            <a:xfrm>
              <a:off x="685800" y="5676900"/>
              <a:ext cx="10820400" cy="495300"/>
            </a:xfrm>
            <a:prstGeom prst="rect">
              <a:avLst/>
            </a:prstGeom>
            <a:solidFill>
              <a:srgbClr val="EFEADD"/>
            </a:solidFill>
            <a:ln w="9525">
              <a:solidFill>
                <a:srgbClr val="D9D2C2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85800" y="5676900"/>
              <a:ext cx="47625" cy="495300"/>
            </a:xfrm>
            <a:prstGeom prst="rect">
              <a:avLst/>
            </a:prstGeom>
            <a:solidFill>
              <a:srgbClr val="9E4B2E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34159" y="5828253"/>
              <a:ext cx="208123" cy="178805"/>
              <a:chOff x="934159" y="5828253"/>
              <a:chExt cx="208123" cy="17880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1038225" y="5893593"/>
                <a:ext cx="95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275">
                    <a:moveTo>
                      <a:pt x="0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20637">
                <a:solidFill>
                  <a:srgbClr val="9E4B2E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34159" y="5828253"/>
                <a:ext cx="208123" cy="178805"/>
              </a:xfrm>
              <a:custGeom>
                <a:avLst/>
                <a:gdLst/>
                <a:ahLst/>
                <a:cxnLst/>
                <a:rect l="l" t="t" r="r" b="b"/>
                <a:pathLst>
                  <a:path w="208123" h="178805">
                    <a:moveTo>
                      <a:pt x="87174" y="9526"/>
                    </a:moveTo>
                    <a:lnTo>
                      <a:pt x="3530" y="149180"/>
                    </a:lnTo>
                    <a:cubicBezTo>
                      <a:pt x="21" y="155256"/>
                      <a:pt x="0" y="162738"/>
                      <a:pt x="3474" y="168834"/>
                    </a:cubicBezTo>
                    <a:cubicBezTo>
                      <a:pt x="6948" y="174931"/>
                      <a:pt x="13395" y="178726"/>
                      <a:pt x="20412" y="178805"/>
                    </a:cubicBezTo>
                    <a:lnTo>
                      <a:pt x="187719" y="178805"/>
                    </a:lnTo>
                    <a:cubicBezTo>
                      <a:pt x="194732" y="178724"/>
                      <a:pt x="201176" y="174930"/>
                      <a:pt x="204650" y="168837"/>
                    </a:cubicBezTo>
                    <a:cubicBezTo>
                      <a:pt x="208123" y="162744"/>
                      <a:pt x="208104" y="155266"/>
                      <a:pt x="204601" y="149190"/>
                    </a:cubicBezTo>
                    <a:lnTo>
                      <a:pt x="120957" y="9516"/>
                    </a:lnTo>
                    <a:cubicBezTo>
                      <a:pt x="117378" y="3609"/>
                      <a:pt x="110973" y="0"/>
                      <a:pt x="104065" y="0"/>
                    </a:cubicBezTo>
                    <a:cubicBezTo>
                      <a:pt x="97158" y="0"/>
                      <a:pt x="90753" y="3609"/>
                      <a:pt x="87174" y="9516"/>
                    </a:cubicBezTo>
                  </a:path>
                </a:pathLst>
              </a:custGeom>
              <a:noFill/>
              <a:ln w="20637">
                <a:solidFill>
                  <a:srgbClr val="9E4B2E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038225" y="5965824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03" y="0"/>
                    </a:lnTo>
                  </a:path>
                </a:pathLst>
              </a:custGeom>
              <a:noFill/>
              <a:ln w="20637">
                <a:solidFill>
                  <a:srgbClr val="9E4B2E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270254" y="5838825"/>
              <a:ext cx="5700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Satu anggota maksimal 3 buku aktif. Sistem menolak peminjaman bila melebihi.</a:t>
              </a:r>
            </a:p>
          </p:txBody>
        </p:sp>
      </p:grpSp>
      <p:grpSp>
        <p:nvGrpSpPr>
          <p:cNvPr id="42" name="ftr"/>
          <p:cNvGrpSpPr/>
          <p:nvPr/>
        </p:nvGrpSpPr>
        <p:grpSpPr>
          <a:xfrm>
            <a:off x="680847" y="6362700"/>
            <a:ext cx="10830306" cy="324993"/>
            <a:chOff x="680847" y="6362700"/>
            <a:chExt cx="10830306" cy="324993"/>
          </a:xfrm>
        </p:grpSpPr>
        <p:sp>
          <p:nvSpPr>
            <p:cNvPr id="39" name="Line 39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0847" y="6496050"/>
              <a:ext cx="24956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Perpustakaan · Panduan Petugas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932747" y="6496050"/>
              <a:ext cx="5784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07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"/>
          <p:cNvGrpSpPr/>
          <p:nvPr/>
        </p:nvGrpSpPr>
        <p:grpSpPr>
          <a:xfrm>
            <a:off x="672084" y="698500"/>
            <a:ext cx="10839069" cy="892175"/>
            <a:chOff x="672084" y="698500"/>
            <a:chExt cx="10839069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680085" y="698500"/>
              <a:ext cx="10560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22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BAGIAN 06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965200"/>
              <a:ext cx="536761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2700" b="1" dirty="0">
                  <a:solidFill>
                    <a:srgbClr val="23201B"/>
                  </a:solidFill>
                  <a:latin typeface="+mj-lt"/>
                  <a:ea typeface="+mj-ea"/>
                  <a:cs typeface="+mj-cs"/>
                </a:rPr>
                <a:t>Memproses Pengembalian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052533" y="723900"/>
              <a:ext cx="14586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15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PANDUAN PETUGAS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5811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</p:grpSp>
      <p:grpSp>
        <p:nvGrpSpPr>
          <p:cNvPr id="12" name="st0"/>
          <p:cNvGrpSpPr/>
          <p:nvPr/>
        </p:nvGrpSpPr>
        <p:grpSpPr>
          <a:xfrm>
            <a:off x="685800" y="1809750"/>
            <a:ext cx="10820400" cy="819150"/>
            <a:chOff x="685800" y="1809750"/>
            <a:chExt cx="10820400" cy="819150"/>
          </a:xfrm>
        </p:grpSpPr>
        <p:sp>
          <p:nvSpPr>
            <p:cNvPr id="7" name="Rectangle 7"/>
            <p:cNvSpPr/>
            <p:nvPr/>
          </p:nvSpPr>
          <p:spPr>
            <a:xfrm>
              <a:off x="685800" y="1809750"/>
              <a:ext cx="108204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33450" y="2000250"/>
              <a:ext cx="438150" cy="43815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86666" y="2092325"/>
              <a:ext cx="1317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73530" y="1971675"/>
              <a:ext cx="23325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0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Buka menu Peminjaman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75054" y="2257425"/>
              <a:ext cx="27967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Cari pinjaman yang akan dikembalikan.</a:t>
              </a:r>
            </a:p>
          </p:txBody>
        </p:sp>
      </p:grpSp>
      <p:grpSp>
        <p:nvGrpSpPr>
          <p:cNvPr id="18" name="st1"/>
          <p:cNvGrpSpPr/>
          <p:nvPr/>
        </p:nvGrpSpPr>
        <p:grpSpPr>
          <a:xfrm>
            <a:off x="685800" y="2743200"/>
            <a:ext cx="10820400" cy="819150"/>
            <a:chOff x="685800" y="2743200"/>
            <a:chExt cx="10820400" cy="819150"/>
          </a:xfrm>
        </p:grpSpPr>
        <p:sp>
          <p:nvSpPr>
            <p:cNvPr id="13" name="Rectangle 13"/>
            <p:cNvSpPr/>
            <p:nvPr/>
          </p:nvSpPr>
          <p:spPr>
            <a:xfrm>
              <a:off x="685800" y="2743200"/>
              <a:ext cx="108204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933450" y="2933700"/>
              <a:ext cx="438150" cy="43815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70624" y="3025775"/>
              <a:ext cx="1638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73530" y="2905125"/>
              <a:ext cx="1559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0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Klik Kembalikan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75054" y="3190875"/>
              <a:ext cx="32670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Tombol Kembalikan ada pada baris pinjaman.</a:t>
              </a:r>
            </a:p>
          </p:txBody>
        </p:sp>
      </p:grpSp>
      <p:grpSp>
        <p:nvGrpSpPr>
          <p:cNvPr id="24" name="st2"/>
          <p:cNvGrpSpPr/>
          <p:nvPr/>
        </p:nvGrpSpPr>
        <p:grpSpPr>
          <a:xfrm>
            <a:off x="685800" y="3676650"/>
            <a:ext cx="10820400" cy="819150"/>
            <a:chOff x="685800" y="3676650"/>
            <a:chExt cx="10820400" cy="819150"/>
          </a:xfrm>
        </p:grpSpPr>
        <p:sp>
          <p:nvSpPr>
            <p:cNvPr id="19" name="Rectangle 19"/>
            <p:cNvSpPr/>
            <p:nvPr/>
          </p:nvSpPr>
          <p:spPr>
            <a:xfrm>
              <a:off x="685800" y="3676650"/>
              <a:ext cx="108204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933450" y="3867150"/>
              <a:ext cx="438150" cy="43815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70859" y="3959225"/>
              <a:ext cx="1633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73530" y="3838575"/>
              <a:ext cx="13487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0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Periksa denda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75054" y="4124325"/>
              <a:ext cx="33740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Denda Rp1.000 per hari bila lewat jatuh tempo.</a:t>
              </a:r>
            </a:p>
          </p:txBody>
        </p:sp>
      </p:grpSp>
      <p:grpSp>
        <p:nvGrpSpPr>
          <p:cNvPr id="30" name="st3"/>
          <p:cNvGrpSpPr/>
          <p:nvPr/>
        </p:nvGrpSpPr>
        <p:grpSpPr>
          <a:xfrm>
            <a:off x="685800" y="4610100"/>
            <a:ext cx="10820400" cy="819150"/>
            <a:chOff x="685800" y="4610100"/>
            <a:chExt cx="10820400" cy="819150"/>
          </a:xfrm>
        </p:grpSpPr>
        <p:sp>
          <p:nvSpPr>
            <p:cNvPr id="25" name="Rectangle 25"/>
            <p:cNvSpPr/>
            <p:nvPr/>
          </p:nvSpPr>
          <p:spPr>
            <a:xfrm>
              <a:off x="685800" y="4610100"/>
              <a:ext cx="108204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933450" y="4800600"/>
              <a:ext cx="438150" cy="43815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67937" y="4892675"/>
              <a:ext cx="1691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73530" y="4772025"/>
              <a:ext cx="7335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0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Simpan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75054" y="5057775"/>
              <a:ext cx="33991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Stok bertambah dan antrean reservasi diproses.</a:t>
              </a:r>
            </a:p>
          </p:txBody>
        </p:sp>
      </p:grpSp>
      <p:grpSp>
        <p:nvGrpSpPr>
          <p:cNvPr id="37" name="n1"/>
          <p:cNvGrpSpPr/>
          <p:nvPr/>
        </p:nvGrpSpPr>
        <p:grpSpPr>
          <a:xfrm>
            <a:off x="685800" y="5676900"/>
            <a:ext cx="10820400" cy="495300"/>
            <a:chOff x="685800" y="5676900"/>
            <a:chExt cx="10820400" cy="495300"/>
          </a:xfrm>
        </p:grpSpPr>
        <p:sp>
          <p:nvSpPr>
            <p:cNvPr id="31" name="Rectangle 31"/>
            <p:cNvSpPr/>
            <p:nvPr/>
          </p:nvSpPr>
          <p:spPr>
            <a:xfrm>
              <a:off x="685800" y="5676900"/>
              <a:ext cx="10820400" cy="495300"/>
            </a:xfrm>
            <a:prstGeom prst="rect">
              <a:avLst/>
            </a:prstGeom>
            <a:solidFill>
              <a:srgbClr val="EFEADD"/>
            </a:solidFill>
            <a:ln w="9525">
              <a:solidFill>
                <a:srgbClr val="D9D2C2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85800" y="5676900"/>
              <a:ext cx="47625" cy="49530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955675" y="5838019"/>
              <a:ext cx="165099" cy="173061"/>
              <a:chOff x="955675" y="5838019"/>
              <a:chExt cx="165099" cy="17306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955675" y="5838019"/>
                <a:ext cx="165099" cy="76212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76212">
                    <a:moveTo>
                      <a:pt x="165099" y="76212"/>
                    </a:moveTo>
                    <a:cubicBezTo>
                      <a:pt x="159912" y="38885"/>
                      <a:pt x="130386" y="9646"/>
                      <a:pt x="93010" y="4823"/>
                    </a:cubicBezTo>
                    <a:cubicBezTo>
                      <a:pt x="55633" y="0"/>
                      <a:pt x="19652" y="20787"/>
                      <a:pt x="5159" y="55575"/>
                    </a:cubicBezTo>
                    <a:moveTo>
                      <a:pt x="0" y="14300"/>
                    </a:moveTo>
                    <a:lnTo>
                      <a:pt x="0" y="55575"/>
                    </a:lnTo>
                    <a:lnTo>
                      <a:pt x="41275" y="55575"/>
                    </a:lnTo>
                  </a:path>
                </a:pathLst>
              </a:custGeom>
              <a:noFill/>
              <a:ln w="20637">
                <a:solidFill>
                  <a:srgbClr val="3F5D3A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55675" y="5934868"/>
                <a:ext cx="165099" cy="76212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76212">
                    <a:moveTo>
                      <a:pt x="0" y="0"/>
                    </a:moveTo>
                    <a:cubicBezTo>
                      <a:pt x="5187" y="37328"/>
                      <a:pt x="34714" y="66567"/>
                      <a:pt x="72090" y="71390"/>
                    </a:cubicBezTo>
                    <a:cubicBezTo>
                      <a:pt x="109466" y="76212"/>
                      <a:pt x="145447" y="55426"/>
                      <a:pt x="159940" y="20637"/>
                    </a:cubicBezTo>
                    <a:moveTo>
                      <a:pt x="165099" y="61912"/>
                    </a:moveTo>
                    <a:lnTo>
                      <a:pt x="165099" y="20637"/>
                    </a:lnTo>
                    <a:lnTo>
                      <a:pt x="123825" y="20637"/>
                    </a:lnTo>
                  </a:path>
                </a:pathLst>
              </a:custGeom>
              <a:noFill/>
              <a:ln w="20637">
                <a:solidFill>
                  <a:srgbClr val="3F5D3A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270254" y="5838825"/>
              <a:ext cx="53465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Bila ada antrean reservasi, buku otomatis dialihkan ke pemesan berikutnya.</a:t>
              </a:r>
            </a:p>
          </p:txBody>
        </p:sp>
      </p:grpSp>
      <p:grpSp>
        <p:nvGrpSpPr>
          <p:cNvPr id="41" name="ftr"/>
          <p:cNvGrpSpPr/>
          <p:nvPr/>
        </p:nvGrpSpPr>
        <p:grpSpPr>
          <a:xfrm>
            <a:off x="680847" y="6362700"/>
            <a:ext cx="10830306" cy="324993"/>
            <a:chOff x="680847" y="6362700"/>
            <a:chExt cx="10830306" cy="324993"/>
          </a:xfrm>
        </p:grpSpPr>
        <p:sp>
          <p:nvSpPr>
            <p:cNvPr id="38" name="Line 38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0847" y="6496050"/>
              <a:ext cx="24956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Perpustakaan · Panduan Petugas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932747" y="6496050"/>
              <a:ext cx="5784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08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"/>
          <p:cNvGrpSpPr/>
          <p:nvPr/>
        </p:nvGrpSpPr>
        <p:grpSpPr>
          <a:xfrm>
            <a:off x="672084" y="698500"/>
            <a:ext cx="10839069" cy="892175"/>
            <a:chOff x="672084" y="698500"/>
            <a:chExt cx="10839069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680085" y="698500"/>
              <a:ext cx="10560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22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BAGIAN 07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965200"/>
              <a:ext cx="597051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2700" b="1" dirty="0">
                  <a:solidFill>
                    <a:srgbClr val="23201B"/>
                  </a:solidFill>
                  <a:latin typeface="+mj-lt"/>
                  <a:ea typeface="+mj-ea"/>
                  <a:cs typeface="+mj-cs"/>
                </a:rPr>
                <a:t>Mengelola Antrean Reservasi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052533" y="723900"/>
              <a:ext cx="14586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15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PANDUAN PETUGAS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5811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</p:grpSp>
      <p:grpSp>
        <p:nvGrpSpPr>
          <p:cNvPr id="21" name="c1"/>
          <p:cNvGrpSpPr/>
          <p:nvPr/>
        </p:nvGrpSpPr>
        <p:grpSpPr>
          <a:xfrm>
            <a:off x="685800" y="1905000"/>
            <a:ext cx="5257800" cy="2857500"/>
            <a:chOff x="685800" y="1905000"/>
            <a:chExt cx="5257800" cy="2857500"/>
          </a:xfrm>
        </p:grpSpPr>
        <p:sp>
          <p:nvSpPr>
            <p:cNvPr id="7" name="Rectangle 7"/>
            <p:cNvSpPr/>
            <p:nvPr/>
          </p:nvSpPr>
          <p:spPr>
            <a:xfrm>
              <a:off x="685800" y="1905000"/>
              <a:ext cx="5257800" cy="2857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905000"/>
              <a:ext cx="5257800" cy="4762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966788" y="2224088"/>
              <a:ext cx="200026" cy="200026"/>
              <a:chOff x="966788" y="2224088"/>
              <a:chExt cx="200026" cy="20002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66788" y="22240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33463" y="230187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306449" y="2209800"/>
              <a:ext cx="20414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8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Proses pengambilan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33450" y="28098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17854" y="2724150"/>
              <a:ext cx="14642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Buka menu Antrean.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33450" y="30765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17854" y="2990850"/>
              <a:ext cx="26586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Pilih reservasi berstatus Siap Diambil.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33450" y="33432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17854" y="3257550"/>
              <a:ext cx="33942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Klik Proses Ambil untuk membuat peminjaman.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33450" y="36099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17854" y="3524250"/>
              <a:ext cx="20310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Buku berpindah ke anggota.</a:t>
              </a:r>
            </a:p>
          </p:txBody>
        </p:sp>
      </p:grpSp>
      <p:grpSp>
        <p:nvGrpSpPr>
          <p:cNvPr id="34" name="c2"/>
          <p:cNvGrpSpPr/>
          <p:nvPr/>
        </p:nvGrpSpPr>
        <p:grpSpPr>
          <a:xfrm>
            <a:off x="6248400" y="1905000"/>
            <a:ext cx="5257800" cy="2857500"/>
            <a:chOff x="6248400" y="1905000"/>
            <a:chExt cx="5257800" cy="2857500"/>
          </a:xfrm>
        </p:grpSpPr>
        <p:sp>
          <p:nvSpPr>
            <p:cNvPr id="22" name="Rectangle 22"/>
            <p:cNvSpPr/>
            <p:nvPr/>
          </p:nvSpPr>
          <p:spPr>
            <a:xfrm>
              <a:off x="6248400" y="1905000"/>
              <a:ext cx="5257800" cy="2857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48400" y="1905000"/>
              <a:ext cx="5257800" cy="47625"/>
            </a:xfrm>
            <a:prstGeom prst="rect">
              <a:avLst/>
            </a:prstGeom>
            <a:solidFill>
              <a:srgbClr val="9E4B2E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562725" y="2257425"/>
              <a:ext cx="133350" cy="133350"/>
              <a:chOff x="6562725" y="2257425"/>
              <a:chExt cx="133350" cy="13335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562725" y="225742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133350" y="0"/>
                    </a:moveTo>
                    <a:lnTo>
                      <a:pt x="0" y="133350"/>
                    </a:lnTo>
                  </a:path>
                </a:pathLst>
              </a:custGeom>
              <a:noFill/>
              <a:ln w="22225">
                <a:solidFill>
                  <a:srgbClr val="9E4B2E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562725" y="225742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0"/>
                    </a:moveTo>
                    <a:lnTo>
                      <a:pt x="133350" y="133350"/>
                    </a:lnTo>
                  </a:path>
                </a:pathLst>
              </a:custGeom>
              <a:noFill/>
              <a:ln w="22225">
                <a:solidFill>
                  <a:srgbClr val="9E4B2E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6869049" y="2209800"/>
              <a:ext cx="182802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8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Batalkan reservasi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96050" y="2809875"/>
              <a:ext cx="66675" cy="66675"/>
            </a:xfrm>
            <a:prstGeom prst="rect">
              <a:avLst/>
            </a:prstGeom>
            <a:solidFill>
              <a:srgbClr val="9E4B2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80454" y="2724150"/>
              <a:ext cx="21890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Pilih reservasi yang dibatalkan.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496050" y="3076575"/>
              <a:ext cx="66675" cy="66675"/>
            </a:xfrm>
            <a:prstGeom prst="rect">
              <a:avLst/>
            </a:prstGeom>
            <a:solidFill>
              <a:srgbClr val="9E4B2E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80454" y="2990850"/>
              <a:ext cx="18022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Klik Batal dan konfirmasi.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96050" y="3343275"/>
              <a:ext cx="66675" cy="66675"/>
            </a:xfrm>
            <a:prstGeom prst="rect">
              <a:avLst/>
            </a:prstGeom>
            <a:solidFill>
              <a:srgbClr val="9E4B2E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80454" y="3257550"/>
              <a:ext cx="24231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Antrean berikutnya otomatis naik.</a:t>
              </a:r>
            </a:p>
          </p:txBody>
        </p:sp>
      </p:grpSp>
      <p:grpSp>
        <p:nvGrpSpPr>
          <p:cNvPr id="41" name="n1"/>
          <p:cNvGrpSpPr/>
          <p:nvPr/>
        </p:nvGrpSpPr>
        <p:grpSpPr>
          <a:xfrm>
            <a:off x="685800" y="5143500"/>
            <a:ext cx="10820400" cy="762000"/>
            <a:chOff x="685800" y="5143500"/>
            <a:chExt cx="10820400" cy="762000"/>
          </a:xfrm>
        </p:grpSpPr>
        <p:sp>
          <p:nvSpPr>
            <p:cNvPr id="35" name="Rectangle 35"/>
            <p:cNvSpPr/>
            <p:nvPr/>
          </p:nvSpPr>
          <p:spPr>
            <a:xfrm>
              <a:off x="685800" y="5143500"/>
              <a:ext cx="10820400" cy="762000"/>
            </a:xfrm>
            <a:prstGeom prst="rect">
              <a:avLst/>
            </a:prstGeom>
            <a:solidFill>
              <a:srgbClr val="EFEADD"/>
            </a:solidFill>
            <a:ln w="9525">
              <a:solidFill>
                <a:srgbClr val="D9D2C2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85800" y="5143500"/>
              <a:ext cx="47625" cy="76200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955675" y="5437969"/>
              <a:ext cx="165099" cy="173061"/>
              <a:chOff x="955675" y="5437969"/>
              <a:chExt cx="165099" cy="173061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955675" y="5437969"/>
                <a:ext cx="165099" cy="76212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76212">
                    <a:moveTo>
                      <a:pt x="165099" y="76212"/>
                    </a:moveTo>
                    <a:cubicBezTo>
                      <a:pt x="159912" y="38885"/>
                      <a:pt x="130386" y="9646"/>
                      <a:pt x="93010" y="4823"/>
                    </a:cubicBezTo>
                    <a:cubicBezTo>
                      <a:pt x="55633" y="0"/>
                      <a:pt x="19652" y="20787"/>
                      <a:pt x="5159" y="55575"/>
                    </a:cubicBezTo>
                    <a:moveTo>
                      <a:pt x="0" y="14300"/>
                    </a:moveTo>
                    <a:lnTo>
                      <a:pt x="0" y="55575"/>
                    </a:lnTo>
                    <a:lnTo>
                      <a:pt x="41275" y="55575"/>
                    </a:lnTo>
                  </a:path>
                </a:pathLst>
              </a:custGeom>
              <a:noFill/>
              <a:ln w="20637">
                <a:solidFill>
                  <a:srgbClr val="3F5D3A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955675" y="5534818"/>
                <a:ext cx="165099" cy="76212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76212">
                    <a:moveTo>
                      <a:pt x="0" y="0"/>
                    </a:moveTo>
                    <a:cubicBezTo>
                      <a:pt x="5187" y="37328"/>
                      <a:pt x="34714" y="66567"/>
                      <a:pt x="72090" y="71390"/>
                    </a:cubicBezTo>
                    <a:cubicBezTo>
                      <a:pt x="109466" y="76212"/>
                      <a:pt x="145447" y="55426"/>
                      <a:pt x="159940" y="20637"/>
                    </a:cubicBezTo>
                    <a:moveTo>
                      <a:pt x="165099" y="61912"/>
                    </a:moveTo>
                    <a:lnTo>
                      <a:pt x="165099" y="20637"/>
                    </a:lnTo>
                    <a:lnTo>
                      <a:pt x="123825" y="20637"/>
                    </a:lnTo>
                  </a:path>
                </a:pathLst>
              </a:custGeom>
              <a:noFill/>
              <a:ln w="20637">
                <a:solidFill>
                  <a:srgbClr val="3F5D3A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270254" y="5438775"/>
              <a:ext cx="70094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Saat buku dikembalikan, sistem otomatis mempromosikan pemesan berikutnya ke status Tersedia.</a:t>
              </a:r>
            </a:p>
          </p:txBody>
        </p:sp>
      </p:grpSp>
      <p:grpSp>
        <p:nvGrpSpPr>
          <p:cNvPr id="45" name="ftr"/>
          <p:cNvGrpSpPr/>
          <p:nvPr/>
        </p:nvGrpSpPr>
        <p:grpSpPr>
          <a:xfrm>
            <a:off x="680847" y="6362700"/>
            <a:ext cx="10830306" cy="324993"/>
            <a:chOff x="680847" y="6362700"/>
            <a:chExt cx="10830306" cy="324993"/>
          </a:xfrm>
        </p:grpSpPr>
        <p:sp>
          <p:nvSpPr>
            <p:cNvPr id="42" name="Line 42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0847" y="6496050"/>
              <a:ext cx="24956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Perpustakaan · Panduan Petugas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932747" y="6496050"/>
              <a:ext cx="5784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09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"/>
          <p:cNvGrpSpPr/>
          <p:nvPr/>
        </p:nvGrpSpPr>
        <p:grpSpPr>
          <a:xfrm>
            <a:off x="672084" y="698500"/>
            <a:ext cx="10839069" cy="892175"/>
            <a:chOff x="672084" y="698500"/>
            <a:chExt cx="10839069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680085" y="698500"/>
              <a:ext cx="10560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22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BAGIAN 08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965200"/>
              <a:ext cx="368343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2700" b="1" dirty="0">
                  <a:solidFill>
                    <a:srgbClr val="23201B"/>
                  </a:solidFill>
                  <a:latin typeface="+mj-lt"/>
                  <a:ea typeface="+mj-ea"/>
                  <a:cs typeface="+mj-cs"/>
                </a:rPr>
                <a:t>Laporan Sirkulasi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052533" y="723900"/>
              <a:ext cx="14586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15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PANDUAN PETUGAS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5811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</p:grpSp>
      <p:grpSp>
        <p:nvGrpSpPr>
          <p:cNvPr id="15" name="c1"/>
          <p:cNvGrpSpPr/>
          <p:nvPr/>
        </p:nvGrpSpPr>
        <p:grpSpPr>
          <a:xfrm>
            <a:off x="685800" y="1905000"/>
            <a:ext cx="5257800" cy="1524000"/>
            <a:chOff x="685800" y="1905000"/>
            <a:chExt cx="5257800" cy="1524000"/>
          </a:xfrm>
        </p:grpSpPr>
        <p:sp>
          <p:nvSpPr>
            <p:cNvPr id="7" name="Rectangle 7"/>
            <p:cNvSpPr/>
            <p:nvPr/>
          </p:nvSpPr>
          <p:spPr>
            <a:xfrm>
              <a:off x="685800" y="1905000"/>
              <a:ext cx="5257800" cy="1524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905000"/>
              <a:ext cx="5257800" cy="4762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977900" y="2235200"/>
              <a:ext cx="177801" cy="188913"/>
            </a:xfrm>
            <a:custGeom>
              <a:avLst/>
              <a:gdLst/>
              <a:ahLst/>
              <a:cxnLst/>
              <a:rect l="l" t="t" r="r" b="b"/>
              <a:pathLst>
                <a:path w="177801" h="188913">
                  <a:moveTo>
                    <a:pt x="0" y="0"/>
                  </a:moveTo>
                  <a:lnTo>
                    <a:pt x="177801" y="0"/>
                  </a:lnTo>
                  <a:lnTo>
                    <a:pt x="177801" y="24136"/>
                  </a:lnTo>
                  <a:cubicBezTo>
                    <a:pt x="177799" y="30030"/>
                    <a:pt x="175457" y="35683"/>
                    <a:pt x="171289" y="39850"/>
                  </a:cubicBezTo>
                  <a:lnTo>
                    <a:pt x="122238" y="88900"/>
                  </a:lnTo>
                  <a:lnTo>
                    <a:pt x="122238" y="166688"/>
                  </a:lnTo>
                  <a:lnTo>
                    <a:pt x="55563" y="188913"/>
                  </a:lnTo>
                  <a:lnTo>
                    <a:pt x="55563" y="94457"/>
                  </a:lnTo>
                  <a:lnTo>
                    <a:pt x="5779" y="39694"/>
                  </a:lnTo>
                  <a:cubicBezTo>
                    <a:pt x="2061" y="35604"/>
                    <a:pt x="1" y="30275"/>
                    <a:pt x="0" y="24748"/>
                  </a:cubicBezTo>
                  <a:lnTo>
                    <a:pt x="0" y="0"/>
                  </a:lnTo>
                </a:path>
              </a:pathLst>
            </a:custGeom>
            <a:noFill/>
            <a:ln w="22225">
              <a:solidFill>
                <a:srgbClr val="3F5D3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06449" y="2209800"/>
              <a:ext cx="135913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8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Filter laporan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33450" y="28098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17854" y="2724150"/>
              <a:ext cx="1302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Pilih jenis laporan.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33450" y="30765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17854" y="2990850"/>
              <a:ext cx="1857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Isi tanggal awal dan akhir.</a:t>
              </a:r>
            </a:p>
          </p:txBody>
        </p:sp>
      </p:grpSp>
      <p:grpSp>
        <p:nvGrpSpPr>
          <p:cNvPr id="30" name="c2"/>
          <p:cNvGrpSpPr/>
          <p:nvPr/>
        </p:nvGrpSpPr>
        <p:grpSpPr>
          <a:xfrm>
            <a:off x="6248400" y="1905000"/>
            <a:ext cx="5257800" cy="1524000"/>
            <a:chOff x="6248400" y="1905000"/>
            <a:chExt cx="5257800" cy="1524000"/>
          </a:xfrm>
        </p:grpSpPr>
        <p:sp>
          <p:nvSpPr>
            <p:cNvPr id="16" name="Rectangle 16"/>
            <p:cNvSpPr/>
            <p:nvPr/>
          </p:nvSpPr>
          <p:spPr>
            <a:xfrm>
              <a:off x="6248400" y="1905000"/>
              <a:ext cx="5257800" cy="1524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248400" y="1905000"/>
              <a:ext cx="5257800" cy="4762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6551613" y="2257425"/>
              <a:ext cx="166688" cy="142876"/>
              <a:chOff x="6551613" y="2257425"/>
              <a:chExt cx="166688" cy="14287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6596063" y="2257425"/>
                <a:ext cx="1222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2238" h="9525">
                    <a:moveTo>
                      <a:pt x="0" y="0"/>
                    </a:moveTo>
                    <a:lnTo>
                      <a:pt x="122238" y="0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596063" y="2324100"/>
                <a:ext cx="1222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2238" h="9525">
                    <a:moveTo>
                      <a:pt x="0" y="0"/>
                    </a:moveTo>
                    <a:lnTo>
                      <a:pt x="122238" y="0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596063" y="2390776"/>
                <a:ext cx="1222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2238" h="9525">
                    <a:moveTo>
                      <a:pt x="0" y="0"/>
                    </a:moveTo>
                    <a:lnTo>
                      <a:pt x="122238" y="0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551613" y="2257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551613" y="23241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551613" y="239077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6869049" y="2209800"/>
              <a:ext cx="133799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8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Jenis laporan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496050" y="28098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80454" y="2724150"/>
              <a:ext cx="2377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Peminjaman, buku, dan reservasi.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96050" y="30765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80454" y="2990850"/>
              <a:ext cx="24661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Angka ringkas tampil di atas tabel.</a:t>
              </a:r>
            </a:p>
          </p:txBody>
        </p:sp>
      </p:grpSp>
      <p:grpSp>
        <p:nvGrpSpPr>
          <p:cNvPr id="52" name="tbl"/>
          <p:cNvGrpSpPr/>
          <p:nvPr/>
        </p:nvGrpSpPr>
        <p:grpSpPr>
          <a:xfrm>
            <a:off x="685800" y="3810000"/>
            <a:ext cx="10820400" cy="1695450"/>
            <a:chOff x="685800" y="3810000"/>
            <a:chExt cx="10820400" cy="1695450"/>
          </a:xfrm>
        </p:grpSpPr>
        <p:sp>
          <p:nvSpPr>
            <p:cNvPr id="31" name="Rectangle 31"/>
            <p:cNvSpPr/>
            <p:nvPr/>
          </p:nvSpPr>
          <p:spPr>
            <a:xfrm>
              <a:off x="685800" y="3810000"/>
              <a:ext cx="10820400" cy="16954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85800" y="3810000"/>
              <a:ext cx="10820400" cy="438150"/>
            </a:xfrm>
            <a:prstGeom prst="rect">
              <a:avLst/>
            </a:prstGeom>
            <a:solidFill>
              <a:srgbClr val="EFEADD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52297" y="3981450"/>
              <a:ext cx="61058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spc="7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ANGGOTA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31233" y="3981450"/>
              <a:ext cx="34857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spc="7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BUKU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10169" y="3981450"/>
              <a:ext cx="52325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spc="7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PINJAM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941433" y="3981450"/>
              <a:ext cx="9599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spc="7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JATUH TEMPO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685800" y="42481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51535" y="4375150"/>
              <a:ext cx="8926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Budi Santoso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530471" y="4375150"/>
              <a:ext cx="8144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Filsafat Ilmu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09407" y="4375150"/>
              <a:ext cx="8381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01 Feb 2026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940671" y="4375150"/>
              <a:ext cx="8381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15 Feb 2026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685800" y="46672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51535" y="4794250"/>
              <a:ext cx="7765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Siti Aminah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530471" y="4794250"/>
              <a:ext cx="12289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Sejarah Nusantara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209407" y="4794250"/>
              <a:ext cx="8381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03 Feb 2026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940671" y="4794250"/>
              <a:ext cx="8381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17 Feb 2026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685800" y="50863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51535" y="5213350"/>
              <a:ext cx="918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Rangga Putra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530471" y="5213350"/>
              <a:ext cx="13816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Dasar Pemrograman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209407" y="5213350"/>
              <a:ext cx="8381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05 Feb 2026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940671" y="5213350"/>
              <a:ext cx="8381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19 Feb 2026</a:t>
              </a:r>
            </a:p>
          </p:txBody>
        </p:sp>
      </p:grpSp>
      <p:grpSp>
        <p:nvGrpSpPr>
          <p:cNvPr id="56" name="ftr"/>
          <p:cNvGrpSpPr/>
          <p:nvPr/>
        </p:nvGrpSpPr>
        <p:grpSpPr>
          <a:xfrm>
            <a:off x="680847" y="6362700"/>
            <a:ext cx="10830306" cy="324993"/>
            <a:chOff x="680847" y="6362700"/>
            <a:chExt cx="10830306" cy="324993"/>
          </a:xfrm>
        </p:grpSpPr>
        <p:sp>
          <p:nvSpPr>
            <p:cNvPr id="53" name="Line 53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0847" y="6496050"/>
              <a:ext cx="24956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Perpustakaan · Panduan Petugas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932747" y="6496050"/>
              <a:ext cx="5784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10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"/>
          <p:cNvGrpSpPr/>
          <p:nvPr/>
        </p:nvGrpSpPr>
        <p:grpSpPr>
          <a:xfrm>
            <a:off x="672084" y="698500"/>
            <a:ext cx="10839069" cy="892175"/>
            <a:chOff x="672084" y="698500"/>
            <a:chExt cx="10839069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680085" y="698500"/>
              <a:ext cx="10560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22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BAGIAN 09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965200"/>
              <a:ext cx="365911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2700" b="1" dirty="0">
                  <a:solidFill>
                    <a:srgbClr val="23201B"/>
                  </a:solidFill>
                  <a:latin typeface="+mj-lt"/>
                  <a:ea typeface="+mj-ea"/>
                  <a:cs typeface="+mj-cs"/>
                </a:rPr>
                <a:t>Ekspor Data CSV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052533" y="723900"/>
              <a:ext cx="14586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15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PANDUAN PETUGAS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5811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</p:grpSp>
      <p:grpSp>
        <p:nvGrpSpPr>
          <p:cNvPr id="12" name="st0"/>
          <p:cNvGrpSpPr/>
          <p:nvPr/>
        </p:nvGrpSpPr>
        <p:grpSpPr>
          <a:xfrm>
            <a:off x="685800" y="1809750"/>
            <a:ext cx="10820400" cy="819150"/>
            <a:chOff x="685800" y="1809750"/>
            <a:chExt cx="10820400" cy="819150"/>
          </a:xfrm>
        </p:grpSpPr>
        <p:sp>
          <p:nvSpPr>
            <p:cNvPr id="7" name="Rectangle 7"/>
            <p:cNvSpPr/>
            <p:nvPr/>
          </p:nvSpPr>
          <p:spPr>
            <a:xfrm>
              <a:off x="685800" y="1809750"/>
              <a:ext cx="108204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33450" y="2000250"/>
              <a:ext cx="438150" cy="43815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86666" y="2092325"/>
              <a:ext cx="1317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73530" y="1971675"/>
              <a:ext cx="19244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0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Buka menu Laporan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75054" y="2257425"/>
              <a:ext cx="27522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Pilih jenis laporan yang ingin diekspor.</a:t>
              </a:r>
            </a:p>
          </p:txBody>
        </p:sp>
      </p:grpSp>
      <p:grpSp>
        <p:nvGrpSpPr>
          <p:cNvPr id="18" name="st1"/>
          <p:cNvGrpSpPr/>
          <p:nvPr/>
        </p:nvGrpSpPr>
        <p:grpSpPr>
          <a:xfrm>
            <a:off x="685800" y="2743200"/>
            <a:ext cx="10820400" cy="819150"/>
            <a:chOff x="685800" y="2743200"/>
            <a:chExt cx="10820400" cy="819150"/>
          </a:xfrm>
        </p:grpSpPr>
        <p:sp>
          <p:nvSpPr>
            <p:cNvPr id="13" name="Rectangle 13"/>
            <p:cNvSpPr/>
            <p:nvPr/>
          </p:nvSpPr>
          <p:spPr>
            <a:xfrm>
              <a:off x="685800" y="2743200"/>
              <a:ext cx="108204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933450" y="2933700"/>
              <a:ext cx="438150" cy="43815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70624" y="3025775"/>
              <a:ext cx="1638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73530" y="2905125"/>
              <a:ext cx="20277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0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Atur rentang tanggal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75054" y="3190875"/>
              <a:ext cx="24419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Isi tanggal awal dan tanggal akhir.</a:t>
              </a:r>
            </a:p>
          </p:txBody>
        </p:sp>
      </p:grpSp>
      <p:grpSp>
        <p:nvGrpSpPr>
          <p:cNvPr id="24" name="st2"/>
          <p:cNvGrpSpPr/>
          <p:nvPr/>
        </p:nvGrpSpPr>
        <p:grpSpPr>
          <a:xfrm>
            <a:off x="685800" y="3676650"/>
            <a:ext cx="10820400" cy="819150"/>
            <a:chOff x="685800" y="3676650"/>
            <a:chExt cx="10820400" cy="819150"/>
          </a:xfrm>
        </p:grpSpPr>
        <p:sp>
          <p:nvSpPr>
            <p:cNvPr id="19" name="Rectangle 19"/>
            <p:cNvSpPr/>
            <p:nvPr/>
          </p:nvSpPr>
          <p:spPr>
            <a:xfrm>
              <a:off x="685800" y="3676650"/>
              <a:ext cx="108204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933450" y="3867150"/>
              <a:ext cx="438150" cy="43815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70859" y="3959225"/>
              <a:ext cx="1633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73530" y="3838575"/>
              <a:ext cx="15297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0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Klik Ekspor CSV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75054" y="4124325"/>
              <a:ext cx="32517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Berkas langsung diunduh ke perangkat Anda.</a:t>
              </a:r>
            </a:p>
          </p:txBody>
        </p:sp>
      </p:grpSp>
      <p:grpSp>
        <p:nvGrpSpPr>
          <p:cNvPr id="30" name="st3"/>
          <p:cNvGrpSpPr/>
          <p:nvPr/>
        </p:nvGrpSpPr>
        <p:grpSpPr>
          <a:xfrm>
            <a:off x="685800" y="4610100"/>
            <a:ext cx="10820400" cy="819150"/>
            <a:chOff x="685800" y="4610100"/>
            <a:chExt cx="10820400" cy="819150"/>
          </a:xfrm>
        </p:grpSpPr>
        <p:sp>
          <p:nvSpPr>
            <p:cNvPr id="25" name="Rectangle 25"/>
            <p:cNvSpPr/>
            <p:nvPr/>
          </p:nvSpPr>
          <p:spPr>
            <a:xfrm>
              <a:off x="685800" y="4610100"/>
              <a:ext cx="108204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933450" y="4800600"/>
              <a:ext cx="438150" cy="43815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67937" y="4892675"/>
              <a:ext cx="1691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73530" y="4772025"/>
              <a:ext cx="23148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0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Buka di pengolah angka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75054" y="5057775"/>
              <a:ext cx="31733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Berkas CSV bisa dibuka di Excel atau Sheets.</a:t>
              </a:r>
            </a:p>
          </p:txBody>
        </p:sp>
      </p:grpSp>
      <p:grpSp>
        <p:nvGrpSpPr>
          <p:cNvPr id="39" name="n1"/>
          <p:cNvGrpSpPr/>
          <p:nvPr/>
        </p:nvGrpSpPr>
        <p:grpSpPr>
          <a:xfrm>
            <a:off x="685800" y="5676900"/>
            <a:ext cx="10820400" cy="495300"/>
            <a:chOff x="685800" y="5676900"/>
            <a:chExt cx="10820400" cy="495300"/>
          </a:xfrm>
        </p:grpSpPr>
        <p:sp>
          <p:nvSpPr>
            <p:cNvPr id="31" name="Rectangle 31"/>
            <p:cNvSpPr/>
            <p:nvPr/>
          </p:nvSpPr>
          <p:spPr>
            <a:xfrm>
              <a:off x="685800" y="5676900"/>
              <a:ext cx="10820400" cy="495300"/>
            </a:xfrm>
            <a:prstGeom prst="rect">
              <a:avLst/>
            </a:prstGeom>
            <a:solidFill>
              <a:srgbClr val="EFEADD"/>
            </a:solidFill>
            <a:ln w="9525">
              <a:solidFill>
                <a:srgbClr val="D9D2C2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85800" y="5676900"/>
              <a:ext cx="47625" cy="49530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965994" y="5831681"/>
              <a:ext cx="144462" cy="185737"/>
              <a:chOff x="965994" y="5831681"/>
              <a:chExt cx="144462" cy="185737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1058862" y="5831681"/>
                <a:ext cx="51594" cy="51594"/>
              </a:xfrm>
              <a:custGeom>
                <a:avLst/>
                <a:gdLst/>
                <a:ahLst/>
                <a:cxnLst/>
                <a:rect l="l" t="t" r="r" b="b"/>
                <a:pathLst>
                  <a:path w="51594" h="51594">
                    <a:moveTo>
                      <a:pt x="0" y="0"/>
                    </a:moveTo>
                    <a:lnTo>
                      <a:pt x="0" y="41275"/>
                    </a:lnTo>
                    <a:cubicBezTo>
                      <a:pt x="0" y="46974"/>
                      <a:pt x="4620" y="51594"/>
                      <a:pt x="10319" y="51594"/>
                    </a:cubicBezTo>
                    <a:lnTo>
                      <a:pt x="51594" y="51594"/>
                    </a:lnTo>
                  </a:path>
                </a:pathLst>
              </a:custGeom>
              <a:noFill/>
              <a:ln w="20637">
                <a:solidFill>
                  <a:srgbClr val="3F5D3A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65994" y="5831681"/>
                <a:ext cx="144462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185737">
                    <a:moveTo>
                      <a:pt x="123825" y="185737"/>
                    </a:moveTo>
                    <a:lnTo>
                      <a:pt x="20637" y="185737"/>
                    </a:lnTo>
                    <a:cubicBezTo>
                      <a:pt x="9240" y="185737"/>
                      <a:pt x="0" y="176497"/>
                      <a:pt x="0" y="165099"/>
                    </a:cubicBezTo>
                    <a:lnTo>
                      <a:pt x="0" y="20637"/>
                    </a:lnTo>
                    <a:cubicBezTo>
                      <a:pt x="0" y="9240"/>
                      <a:pt x="9240" y="0"/>
                      <a:pt x="20637" y="0"/>
                    </a:cubicBezTo>
                    <a:lnTo>
                      <a:pt x="92868" y="0"/>
                    </a:lnTo>
                    <a:lnTo>
                      <a:pt x="144462" y="51594"/>
                    </a:lnTo>
                    <a:lnTo>
                      <a:pt x="144462" y="165099"/>
                    </a:lnTo>
                    <a:cubicBezTo>
                      <a:pt x="144462" y="176497"/>
                      <a:pt x="135222" y="185737"/>
                      <a:pt x="123825" y="185737"/>
                    </a:cubicBezTo>
                  </a:path>
                </a:pathLst>
              </a:custGeom>
              <a:noFill/>
              <a:ln w="20637">
                <a:solidFill>
                  <a:srgbClr val="3F5D3A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038225" y="5914231"/>
                <a:ext cx="9525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1912">
                    <a:moveTo>
                      <a:pt x="0" y="61912"/>
                    </a:moveTo>
                    <a:lnTo>
                      <a:pt x="0" y="0"/>
                    </a:lnTo>
                  </a:path>
                </a:pathLst>
              </a:custGeom>
              <a:noFill/>
              <a:ln w="20637">
                <a:solidFill>
                  <a:srgbClr val="3F5D3A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012428" y="5950346"/>
                <a:ext cx="51594" cy="25797"/>
              </a:xfrm>
              <a:custGeom>
                <a:avLst/>
                <a:gdLst/>
                <a:ahLst/>
                <a:cxnLst/>
                <a:rect l="l" t="t" r="r" b="b"/>
                <a:pathLst>
                  <a:path w="51594" h="25797">
                    <a:moveTo>
                      <a:pt x="0" y="0"/>
                    </a:moveTo>
                    <a:lnTo>
                      <a:pt x="25797" y="25797"/>
                    </a:lnTo>
                    <a:lnTo>
                      <a:pt x="51594" y="0"/>
                    </a:lnTo>
                  </a:path>
                </a:pathLst>
              </a:custGeom>
              <a:noFill/>
              <a:ln w="20637">
                <a:solidFill>
                  <a:srgbClr val="3F5D3A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270254" y="5838825"/>
              <a:ext cx="42618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Tersedia tiga jenis ekspor: peminjaman, buku, dan reservasi.</a:t>
              </a:r>
            </a:p>
          </p:txBody>
        </p:sp>
      </p:grpSp>
      <p:grpSp>
        <p:nvGrpSpPr>
          <p:cNvPr id="43" name="ftr"/>
          <p:cNvGrpSpPr/>
          <p:nvPr/>
        </p:nvGrpSpPr>
        <p:grpSpPr>
          <a:xfrm>
            <a:off x="680847" y="6362700"/>
            <a:ext cx="10830306" cy="324993"/>
            <a:chOff x="680847" y="6362700"/>
            <a:chExt cx="10830306" cy="324993"/>
          </a:xfrm>
        </p:grpSpPr>
        <p:sp>
          <p:nvSpPr>
            <p:cNvPr id="40" name="Line 40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80847" y="6496050"/>
              <a:ext cx="24956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Perpustakaan · Panduan Petugas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932747" y="6496050"/>
              <a:ext cx="5784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11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"/>
          <p:cNvGrpSpPr/>
          <p:nvPr/>
        </p:nvGrpSpPr>
        <p:grpSpPr>
          <a:xfrm>
            <a:off x="672084" y="698500"/>
            <a:ext cx="10839069" cy="892175"/>
            <a:chOff x="672084" y="698500"/>
            <a:chExt cx="10839069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680085" y="698500"/>
              <a:ext cx="10560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22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BAGIAN 10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965200"/>
              <a:ext cx="514367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2700" b="1" dirty="0">
                  <a:solidFill>
                    <a:srgbClr val="23201B"/>
                  </a:solidFill>
                  <a:latin typeface="+mj-lt"/>
                  <a:ea typeface="+mj-ea"/>
                  <a:cs typeface="+mj-cs"/>
                </a:rPr>
                <a:t>Notifikasi Keterlambatan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052533" y="723900"/>
              <a:ext cx="14586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15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PANDUAN PETUGAS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5811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</p:grpSp>
      <p:grpSp>
        <p:nvGrpSpPr>
          <p:cNvPr id="12" name="st0"/>
          <p:cNvGrpSpPr/>
          <p:nvPr/>
        </p:nvGrpSpPr>
        <p:grpSpPr>
          <a:xfrm>
            <a:off x="685800" y="1809750"/>
            <a:ext cx="10820400" cy="819150"/>
            <a:chOff x="685800" y="1809750"/>
            <a:chExt cx="10820400" cy="819150"/>
          </a:xfrm>
        </p:grpSpPr>
        <p:sp>
          <p:nvSpPr>
            <p:cNvPr id="7" name="Rectangle 7"/>
            <p:cNvSpPr/>
            <p:nvPr/>
          </p:nvSpPr>
          <p:spPr>
            <a:xfrm>
              <a:off x="685800" y="1809750"/>
              <a:ext cx="108204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33450" y="2000250"/>
              <a:ext cx="438150" cy="43815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86666" y="2092325"/>
              <a:ext cx="1317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73530" y="1971675"/>
              <a:ext cx="18420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0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Notifikasi otomatis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75054" y="2257425"/>
              <a:ext cx="42756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Sistem memeriksa pinjaman terlambat tiap hari pukul 07.00.</a:t>
              </a:r>
            </a:p>
          </p:txBody>
        </p:sp>
      </p:grpSp>
      <p:grpSp>
        <p:nvGrpSpPr>
          <p:cNvPr id="18" name="st1"/>
          <p:cNvGrpSpPr/>
          <p:nvPr/>
        </p:nvGrpSpPr>
        <p:grpSpPr>
          <a:xfrm>
            <a:off x="685800" y="2743200"/>
            <a:ext cx="10820400" cy="819150"/>
            <a:chOff x="685800" y="2743200"/>
            <a:chExt cx="10820400" cy="819150"/>
          </a:xfrm>
        </p:grpSpPr>
        <p:sp>
          <p:nvSpPr>
            <p:cNvPr id="13" name="Rectangle 13"/>
            <p:cNvSpPr/>
            <p:nvPr/>
          </p:nvSpPr>
          <p:spPr>
            <a:xfrm>
              <a:off x="685800" y="2743200"/>
              <a:ext cx="108204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933450" y="2933700"/>
              <a:ext cx="438150" cy="43815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70624" y="3025775"/>
              <a:ext cx="1638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73530" y="2905125"/>
              <a:ext cx="13538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0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Email terkirim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75054" y="3190875"/>
              <a:ext cx="37016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Anggota menerima email pengingat keterlambatan.</a:t>
              </a:r>
            </a:p>
          </p:txBody>
        </p:sp>
      </p:grpSp>
      <p:grpSp>
        <p:nvGrpSpPr>
          <p:cNvPr id="24" name="st2"/>
          <p:cNvGrpSpPr/>
          <p:nvPr/>
        </p:nvGrpSpPr>
        <p:grpSpPr>
          <a:xfrm>
            <a:off x="685800" y="3676650"/>
            <a:ext cx="10820400" cy="819150"/>
            <a:chOff x="685800" y="3676650"/>
            <a:chExt cx="10820400" cy="819150"/>
          </a:xfrm>
        </p:grpSpPr>
        <p:sp>
          <p:nvSpPr>
            <p:cNvPr id="19" name="Rectangle 19"/>
            <p:cNvSpPr/>
            <p:nvPr/>
          </p:nvSpPr>
          <p:spPr>
            <a:xfrm>
              <a:off x="685800" y="3676650"/>
              <a:ext cx="108204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933450" y="3867150"/>
              <a:ext cx="438150" cy="43815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70859" y="3959225"/>
              <a:ext cx="1633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73530" y="3838575"/>
              <a:ext cx="11284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0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Sekali kirim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75054" y="4124325"/>
              <a:ext cx="31109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Setiap pinjaman hanya dinotifikasi satu kali.</a:t>
              </a:r>
            </a:p>
          </p:txBody>
        </p:sp>
      </p:grpSp>
      <p:grpSp>
        <p:nvGrpSpPr>
          <p:cNvPr id="30" name="st3"/>
          <p:cNvGrpSpPr/>
          <p:nvPr/>
        </p:nvGrpSpPr>
        <p:grpSpPr>
          <a:xfrm>
            <a:off x="685800" y="4610100"/>
            <a:ext cx="10820400" cy="819150"/>
            <a:chOff x="685800" y="4610100"/>
            <a:chExt cx="10820400" cy="819150"/>
          </a:xfrm>
        </p:grpSpPr>
        <p:sp>
          <p:nvSpPr>
            <p:cNvPr id="25" name="Rectangle 25"/>
            <p:cNvSpPr/>
            <p:nvPr/>
          </p:nvSpPr>
          <p:spPr>
            <a:xfrm>
              <a:off x="685800" y="4610100"/>
              <a:ext cx="108204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933450" y="4800600"/>
              <a:ext cx="438150" cy="43815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67937" y="4892675"/>
              <a:ext cx="1691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73530" y="4772025"/>
              <a:ext cx="16313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0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Pantau di dasbor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75054" y="5057775"/>
              <a:ext cx="30661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Buku terlambat tampil menonjol di dasbor.</a:t>
              </a:r>
            </a:p>
          </p:txBody>
        </p:sp>
      </p:grpSp>
      <p:grpSp>
        <p:nvGrpSpPr>
          <p:cNvPr id="37" name="n1"/>
          <p:cNvGrpSpPr/>
          <p:nvPr/>
        </p:nvGrpSpPr>
        <p:grpSpPr>
          <a:xfrm>
            <a:off x="685800" y="5676900"/>
            <a:ext cx="10820400" cy="495300"/>
            <a:chOff x="685800" y="5676900"/>
            <a:chExt cx="10820400" cy="495300"/>
          </a:xfrm>
        </p:grpSpPr>
        <p:sp>
          <p:nvSpPr>
            <p:cNvPr id="31" name="Rectangle 31"/>
            <p:cNvSpPr/>
            <p:nvPr/>
          </p:nvSpPr>
          <p:spPr>
            <a:xfrm>
              <a:off x="685800" y="5676900"/>
              <a:ext cx="10820400" cy="495300"/>
            </a:xfrm>
            <a:prstGeom prst="rect">
              <a:avLst/>
            </a:prstGeom>
            <a:solidFill>
              <a:srgbClr val="EFEADD"/>
            </a:solidFill>
            <a:ln w="9525">
              <a:solidFill>
                <a:srgbClr val="D9D2C2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85800" y="5676900"/>
              <a:ext cx="47625" cy="495300"/>
            </a:xfrm>
            <a:prstGeom prst="rect">
              <a:avLst/>
            </a:prstGeom>
            <a:solidFill>
              <a:srgbClr val="B08A3E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955675" y="5831681"/>
              <a:ext cx="165099" cy="185737"/>
              <a:chOff x="955675" y="5831681"/>
              <a:chExt cx="165099" cy="185737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955675" y="5831681"/>
                <a:ext cx="165099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144462">
                    <a:moveTo>
                      <a:pt x="61912" y="20637"/>
                    </a:moveTo>
                    <a:cubicBezTo>
                      <a:pt x="61912" y="9240"/>
                      <a:pt x="71152" y="0"/>
                      <a:pt x="82550" y="0"/>
                    </a:cubicBezTo>
                    <a:cubicBezTo>
                      <a:pt x="93947" y="0"/>
                      <a:pt x="103187" y="9240"/>
                      <a:pt x="103187" y="20637"/>
                    </a:cubicBezTo>
                    <a:cubicBezTo>
                      <a:pt x="127335" y="32056"/>
                      <a:pt x="143210" y="55868"/>
                      <a:pt x="144462" y="82550"/>
                    </a:cubicBezTo>
                    <a:lnTo>
                      <a:pt x="144462" y="113506"/>
                    </a:lnTo>
                    <a:cubicBezTo>
                      <a:pt x="146037" y="126516"/>
                      <a:pt x="153696" y="138005"/>
                      <a:pt x="165099" y="144462"/>
                    </a:cubicBezTo>
                    <a:lnTo>
                      <a:pt x="0" y="144462"/>
                    </a:lnTo>
                    <a:cubicBezTo>
                      <a:pt x="11403" y="138005"/>
                      <a:pt x="19063" y="126516"/>
                      <a:pt x="20637" y="113506"/>
                    </a:cubicBezTo>
                    <a:lnTo>
                      <a:pt x="20637" y="82550"/>
                    </a:lnTo>
                    <a:cubicBezTo>
                      <a:pt x="21890" y="55868"/>
                      <a:pt x="37765" y="32056"/>
                      <a:pt x="61912" y="20637"/>
                    </a:cubicBezTo>
                  </a:path>
                </a:pathLst>
              </a:custGeom>
              <a:noFill/>
              <a:ln w="20637">
                <a:solidFill>
                  <a:srgbClr val="B08A3E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007268" y="5976143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0"/>
                    </a:moveTo>
                    <a:lnTo>
                      <a:pt x="0" y="10319"/>
                    </a:lnTo>
                    <a:cubicBezTo>
                      <a:pt x="0" y="27415"/>
                      <a:pt x="13860" y="41275"/>
                      <a:pt x="30956" y="41275"/>
                    </a:cubicBezTo>
                    <a:cubicBezTo>
                      <a:pt x="48053" y="41275"/>
                      <a:pt x="61912" y="27415"/>
                      <a:pt x="61912" y="10319"/>
                    </a:cubicBez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rgbClr val="B08A3E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270254" y="5838825"/>
              <a:ext cx="5385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Pastikan pengaturan email server benar agar notifikasi terkirim tepat waktu.</a:t>
              </a:r>
            </a:p>
          </p:txBody>
        </p:sp>
      </p:grpSp>
      <p:grpSp>
        <p:nvGrpSpPr>
          <p:cNvPr id="41" name="ftr"/>
          <p:cNvGrpSpPr/>
          <p:nvPr/>
        </p:nvGrpSpPr>
        <p:grpSpPr>
          <a:xfrm>
            <a:off x="680847" y="6362700"/>
            <a:ext cx="10830306" cy="324993"/>
            <a:chOff x="680847" y="6362700"/>
            <a:chExt cx="10830306" cy="324993"/>
          </a:xfrm>
        </p:grpSpPr>
        <p:sp>
          <p:nvSpPr>
            <p:cNvPr id="38" name="Line 38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0847" y="6496050"/>
              <a:ext cx="24956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Perpustakaan · Panduan Petugas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932747" y="6496050"/>
              <a:ext cx="5784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12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"/>
          <p:cNvGrpSpPr/>
          <p:nvPr/>
        </p:nvGrpSpPr>
        <p:grpSpPr>
          <a:xfrm>
            <a:off x="672084" y="698500"/>
            <a:ext cx="10839069" cy="892175"/>
            <a:chOff x="672084" y="698500"/>
            <a:chExt cx="10839069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680085" y="698500"/>
              <a:ext cx="10560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22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BAGIAN 11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965200"/>
              <a:ext cx="515906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2700" b="1" dirty="0">
                  <a:solidFill>
                    <a:srgbClr val="23201B"/>
                  </a:solidFill>
                  <a:latin typeface="+mj-lt"/>
                  <a:ea typeface="+mj-ea"/>
                  <a:cs typeface="+mj-cs"/>
                </a:rPr>
                <a:t>Rutinitas Harian Petugas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052533" y="723900"/>
              <a:ext cx="14586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15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PANDUAN PETUGAS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5811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</p:grpSp>
      <p:grpSp>
        <p:nvGrpSpPr>
          <p:cNvPr id="12" name="st0"/>
          <p:cNvGrpSpPr/>
          <p:nvPr/>
        </p:nvGrpSpPr>
        <p:grpSpPr>
          <a:xfrm>
            <a:off x="685800" y="1809750"/>
            <a:ext cx="10820400" cy="723900"/>
            <a:chOff x="685800" y="1809750"/>
            <a:chExt cx="10820400" cy="723900"/>
          </a:xfrm>
        </p:grpSpPr>
        <p:sp>
          <p:nvSpPr>
            <p:cNvPr id="7" name="Rectangle 7"/>
            <p:cNvSpPr/>
            <p:nvPr/>
          </p:nvSpPr>
          <p:spPr>
            <a:xfrm>
              <a:off x="685800" y="1809750"/>
              <a:ext cx="10820400" cy="723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33450" y="1952625"/>
              <a:ext cx="438150" cy="43815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86666" y="2044700"/>
              <a:ext cx="1317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73530" y="1924050"/>
              <a:ext cx="19370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0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Pagi: periksa dasbor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75054" y="2209800"/>
              <a:ext cx="39892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Lihat pinjaman jatuh tempo dan buku terlambat hari ini.</a:t>
              </a:r>
            </a:p>
          </p:txBody>
        </p:sp>
      </p:grpSp>
      <p:grpSp>
        <p:nvGrpSpPr>
          <p:cNvPr id="18" name="st1"/>
          <p:cNvGrpSpPr/>
          <p:nvPr/>
        </p:nvGrpSpPr>
        <p:grpSpPr>
          <a:xfrm>
            <a:off x="685800" y="2628900"/>
            <a:ext cx="10820400" cy="723900"/>
            <a:chOff x="685800" y="2628900"/>
            <a:chExt cx="10820400" cy="723900"/>
          </a:xfrm>
        </p:grpSpPr>
        <p:sp>
          <p:nvSpPr>
            <p:cNvPr id="13" name="Rectangle 13"/>
            <p:cNvSpPr/>
            <p:nvPr/>
          </p:nvSpPr>
          <p:spPr>
            <a:xfrm>
              <a:off x="685800" y="2628900"/>
              <a:ext cx="10820400" cy="723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933450" y="2771775"/>
              <a:ext cx="438150" cy="43815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70624" y="2863850"/>
              <a:ext cx="1638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73530" y="2743200"/>
              <a:ext cx="20474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0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Proses pengembalian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75054" y="3028950"/>
              <a:ext cx="28391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Tandai buku yang dikembalikan hari ini.</a:t>
              </a:r>
            </a:p>
          </p:txBody>
        </p:sp>
      </p:grpSp>
      <p:grpSp>
        <p:nvGrpSpPr>
          <p:cNvPr id="24" name="st2"/>
          <p:cNvGrpSpPr/>
          <p:nvPr/>
        </p:nvGrpSpPr>
        <p:grpSpPr>
          <a:xfrm>
            <a:off x="685800" y="3448050"/>
            <a:ext cx="10820400" cy="723900"/>
            <a:chOff x="685800" y="3448050"/>
            <a:chExt cx="10820400" cy="723900"/>
          </a:xfrm>
        </p:grpSpPr>
        <p:sp>
          <p:nvSpPr>
            <p:cNvPr id="19" name="Rectangle 19"/>
            <p:cNvSpPr/>
            <p:nvPr/>
          </p:nvSpPr>
          <p:spPr>
            <a:xfrm>
              <a:off x="685800" y="3448050"/>
              <a:ext cx="10820400" cy="723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933450" y="3590925"/>
              <a:ext cx="438150" cy="43815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70859" y="3683000"/>
              <a:ext cx="1633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73530" y="3562350"/>
              <a:ext cx="15657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0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Penuhi reservasi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75054" y="3848100"/>
              <a:ext cx="32871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Alihkan buku tersedia ke pemesan berikutnya.</a:t>
              </a:r>
            </a:p>
          </p:txBody>
        </p:sp>
      </p:grpSp>
      <p:grpSp>
        <p:nvGrpSpPr>
          <p:cNvPr id="30" name="st3"/>
          <p:cNvGrpSpPr/>
          <p:nvPr/>
        </p:nvGrpSpPr>
        <p:grpSpPr>
          <a:xfrm>
            <a:off x="685800" y="4267200"/>
            <a:ext cx="10820400" cy="723900"/>
            <a:chOff x="685800" y="4267200"/>
            <a:chExt cx="10820400" cy="723900"/>
          </a:xfrm>
        </p:grpSpPr>
        <p:sp>
          <p:nvSpPr>
            <p:cNvPr id="25" name="Rectangle 25"/>
            <p:cNvSpPr/>
            <p:nvPr/>
          </p:nvSpPr>
          <p:spPr>
            <a:xfrm>
              <a:off x="685800" y="4267200"/>
              <a:ext cx="10820400" cy="723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933450" y="4410075"/>
              <a:ext cx="438150" cy="43815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67937" y="4502150"/>
              <a:ext cx="1691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73530" y="4381500"/>
              <a:ext cx="23592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0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Layani peminjaman baru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75054" y="4667250"/>
              <a:ext cx="24469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Catat peminjaman untuk anggota.</a:t>
              </a:r>
            </a:p>
          </p:txBody>
        </p:sp>
      </p:grpSp>
      <p:grpSp>
        <p:nvGrpSpPr>
          <p:cNvPr id="36" name="st4"/>
          <p:cNvGrpSpPr/>
          <p:nvPr/>
        </p:nvGrpSpPr>
        <p:grpSpPr>
          <a:xfrm>
            <a:off x="685800" y="5086350"/>
            <a:ext cx="10820400" cy="723900"/>
            <a:chOff x="685800" y="5086350"/>
            <a:chExt cx="10820400" cy="723900"/>
          </a:xfrm>
        </p:grpSpPr>
        <p:sp>
          <p:nvSpPr>
            <p:cNvPr id="31" name="Rectangle 31"/>
            <p:cNvSpPr/>
            <p:nvPr/>
          </p:nvSpPr>
          <p:spPr>
            <a:xfrm>
              <a:off x="685800" y="5086350"/>
              <a:ext cx="10820400" cy="723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933450" y="5229225"/>
              <a:ext cx="438150" cy="43815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73840" y="5321300"/>
              <a:ext cx="1573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573530" y="5200650"/>
              <a:ext cx="21706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0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Akhir hari: cek laporan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75054" y="5486400"/>
              <a:ext cx="29900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Pastikan seluruh transaksi hari ini tercatat.</a:t>
              </a:r>
            </a:p>
          </p:txBody>
        </p:sp>
      </p:grpSp>
      <p:grpSp>
        <p:nvGrpSpPr>
          <p:cNvPr id="40" name="ftr"/>
          <p:cNvGrpSpPr/>
          <p:nvPr/>
        </p:nvGrpSpPr>
        <p:grpSpPr>
          <a:xfrm>
            <a:off x="680847" y="6362700"/>
            <a:ext cx="10830306" cy="324993"/>
            <a:chOff x="680847" y="6362700"/>
            <a:chExt cx="10830306" cy="324993"/>
          </a:xfrm>
        </p:grpSpPr>
        <p:sp>
          <p:nvSpPr>
            <p:cNvPr id="37" name="Line 37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0847" y="6496050"/>
              <a:ext cx="24956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Perpustakaan · Panduan Petugas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932747" y="6496050"/>
              <a:ext cx="5784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13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"/>
          <p:cNvGrpSpPr/>
          <p:nvPr/>
        </p:nvGrpSpPr>
        <p:grpSpPr>
          <a:xfrm>
            <a:off x="672084" y="698500"/>
            <a:ext cx="10839069" cy="892175"/>
            <a:chOff x="672084" y="698500"/>
            <a:chExt cx="10839069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680085" y="698500"/>
              <a:ext cx="10560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22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BAGIAN 12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965200"/>
              <a:ext cx="552931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2700" b="1" dirty="0">
                  <a:solidFill>
                    <a:srgbClr val="23201B"/>
                  </a:solidFill>
                  <a:latin typeface="+mj-lt"/>
                  <a:ea typeface="+mj-ea"/>
                  <a:cs typeface="+mj-cs"/>
                </a:rPr>
                <a:t>Catatan Penting &amp; Penutup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052533" y="723900"/>
              <a:ext cx="14586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15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PANDUAN PETUGAS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5811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</p:grpSp>
      <p:grpSp>
        <p:nvGrpSpPr>
          <p:cNvPr id="11" name="s1"/>
          <p:cNvGrpSpPr/>
          <p:nvPr/>
        </p:nvGrpSpPr>
        <p:grpSpPr>
          <a:xfrm>
            <a:off x="685800" y="1905000"/>
            <a:ext cx="3429000" cy="1047750"/>
            <a:chOff x="685800" y="1905000"/>
            <a:chExt cx="3429000" cy="1047750"/>
          </a:xfrm>
        </p:grpSpPr>
        <p:sp>
          <p:nvSpPr>
            <p:cNvPr id="7" name="Rectangle 7"/>
            <p:cNvSpPr/>
            <p:nvPr/>
          </p:nvSpPr>
          <p:spPr>
            <a:xfrm>
              <a:off x="685800" y="1905000"/>
              <a:ext cx="3429000" cy="1047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905000"/>
              <a:ext cx="3429000" cy="4762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22020" y="2159000"/>
              <a:ext cx="114597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2250" b="1" dirty="0">
                  <a:solidFill>
                    <a:srgbClr val="3F5D3A"/>
                  </a:solidFill>
                  <a:latin typeface="+mj-lt"/>
                  <a:ea typeface="+mj-ea"/>
                  <a:cs typeface="+mj-cs"/>
                </a:rPr>
                <a:t>3 buku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28497" y="2571750"/>
              <a:ext cx="136061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spc="15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MAKSIMUM AKTIF</a:t>
              </a:r>
            </a:p>
          </p:txBody>
        </p:sp>
      </p:grpSp>
      <p:grpSp>
        <p:nvGrpSpPr>
          <p:cNvPr id="16" name="s2"/>
          <p:cNvGrpSpPr/>
          <p:nvPr/>
        </p:nvGrpSpPr>
        <p:grpSpPr>
          <a:xfrm>
            <a:off x="4381500" y="1905000"/>
            <a:ext cx="3429000" cy="1047750"/>
            <a:chOff x="4381500" y="1905000"/>
            <a:chExt cx="3429000" cy="1047750"/>
          </a:xfrm>
        </p:grpSpPr>
        <p:sp>
          <p:nvSpPr>
            <p:cNvPr id="12" name="Rectangle 12"/>
            <p:cNvSpPr/>
            <p:nvPr/>
          </p:nvSpPr>
          <p:spPr>
            <a:xfrm>
              <a:off x="4381500" y="1905000"/>
              <a:ext cx="3429000" cy="1047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381500" y="1905000"/>
              <a:ext cx="3429000" cy="47625"/>
            </a:xfrm>
            <a:prstGeom prst="rect">
              <a:avLst/>
            </a:prstGeom>
            <a:solidFill>
              <a:srgbClr val="6B8A6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617720" y="2159000"/>
              <a:ext cx="115644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2250" b="1" dirty="0">
                  <a:solidFill>
                    <a:srgbClr val="6B8A63"/>
                  </a:solidFill>
                  <a:latin typeface="+mj-lt"/>
                  <a:ea typeface="+mj-ea"/>
                  <a:cs typeface="+mj-cs"/>
                </a:rPr>
                <a:t>14 hari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24197" y="2571750"/>
              <a:ext cx="10666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spc="15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MASA PINJAM</a:t>
              </a:r>
            </a:p>
          </p:txBody>
        </p:sp>
      </p:grpSp>
      <p:grpSp>
        <p:nvGrpSpPr>
          <p:cNvPr id="21" name="s3"/>
          <p:cNvGrpSpPr/>
          <p:nvPr/>
        </p:nvGrpSpPr>
        <p:grpSpPr>
          <a:xfrm>
            <a:off x="8077200" y="1905000"/>
            <a:ext cx="3429000" cy="1047750"/>
            <a:chOff x="8077200" y="1905000"/>
            <a:chExt cx="3429000" cy="1047750"/>
          </a:xfrm>
        </p:grpSpPr>
        <p:sp>
          <p:nvSpPr>
            <p:cNvPr id="17" name="Rectangle 17"/>
            <p:cNvSpPr/>
            <p:nvPr/>
          </p:nvSpPr>
          <p:spPr>
            <a:xfrm>
              <a:off x="8077200" y="1905000"/>
              <a:ext cx="3429000" cy="1047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077200" y="1905000"/>
              <a:ext cx="3429000" cy="47625"/>
            </a:xfrm>
            <a:prstGeom prst="rect">
              <a:avLst/>
            </a:prstGeom>
            <a:solidFill>
              <a:srgbClr val="B08A3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13420" y="2159000"/>
              <a:ext cx="97846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2250" b="1" dirty="0">
                  <a:solidFill>
                    <a:srgbClr val="B08A3E"/>
                  </a:solidFill>
                  <a:latin typeface="+mj-lt"/>
                  <a:ea typeface="+mj-ea"/>
                  <a:cs typeface="+mj-cs"/>
                </a:rPr>
                <a:t>07.00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19897" y="2571750"/>
              <a:ext cx="16546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spc="15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NOTIFIKASI HARIAN</a:t>
              </a:r>
            </a:p>
          </p:txBody>
        </p:sp>
      </p:grpSp>
      <p:grpSp>
        <p:nvGrpSpPr>
          <p:cNvPr id="34" name="c1"/>
          <p:cNvGrpSpPr/>
          <p:nvPr/>
        </p:nvGrpSpPr>
        <p:grpSpPr>
          <a:xfrm>
            <a:off x="685800" y="3333750"/>
            <a:ext cx="5257800" cy="1905000"/>
            <a:chOff x="685800" y="3333750"/>
            <a:chExt cx="5257800" cy="1905000"/>
          </a:xfrm>
        </p:grpSpPr>
        <p:sp>
          <p:nvSpPr>
            <p:cNvPr id="22" name="Rectangle 22"/>
            <p:cNvSpPr/>
            <p:nvPr/>
          </p:nvSpPr>
          <p:spPr>
            <a:xfrm>
              <a:off x="685800" y="3333750"/>
              <a:ext cx="5257800" cy="190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85800" y="3333750"/>
              <a:ext cx="5257800" cy="4762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989013" y="3652838"/>
              <a:ext cx="155575" cy="200026"/>
              <a:chOff x="989013" y="3652838"/>
              <a:chExt cx="155575" cy="20002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989013" y="3675063"/>
                <a:ext cx="155575" cy="177801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77801">
                    <a:moveTo>
                      <a:pt x="44450" y="0"/>
                    </a:moveTo>
                    <a:lnTo>
                      <a:pt x="22225" y="0"/>
                    </a:lnTo>
                    <a:cubicBezTo>
                      <a:pt x="9950" y="0"/>
                      <a:pt x="0" y="9950"/>
                      <a:pt x="0" y="22225"/>
                    </a:cubicBezTo>
                    <a:lnTo>
                      <a:pt x="0" y="155575"/>
                    </a:lnTo>
                    <a:cubicBezTo>
                      <a:pt x="0" y="167850"/>
                      <a:pt x="9950" y="177801"/>
                      <a:pt x="22225" y="177801"/>
                    </a:cubicBezTo>
                    <a:lnTo>
                      <a:pt x="133350" y="177801"/>
                    </a:lnTo>
                    <a:cubicBezTo>
                      <a:pt x="145625" y="177801"/>
                      <a:pt x="155575" y="167850"/>
                      <a:pt x="155575" y="155575"/>
                    </a:cubicBezTo>
                    <a:lnTo>
                      <a:pt x="155575" y="22225"/>
                    </a:lnTo>
                    <a:cubicBezTo>
                      <a:pt x="155575" y="9950"/>
                      <a:pt x="145625" y="0"/>
                      <a:pt x="133350" y="0"/>
                    </a:cubicBezTo>
                    <a:lnTo>
                      <a:pt x="111125" y="0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033463" y="365283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44450" y="0"/>
                    </a:lnTo>
                    <a:cubicBezTo>
                      <a:pt x="56725" y="0"/>
                      <a:pt x="66675" y="9950"/>
                      <a:pt x="66675" y="22225"/>
                    </a:cubicBezTo>
                    <a:cubicBezTo>
                      <a:pt x="66675" y="34500"/>
                      <a:pt x="56725" y="44450"/>
                      <a:pt x="44450" y="44450"/>
                    </a:cubicBezTo>
                    <a:lnTo>
                      <a:pt x="22225" y="44450"/>
                    </a:lnTo>
                    <a:cubicBezTo>
                      <a:pt x="9950" y="44450"/>
                      <a:pt x="0" y="3450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306449" y="3638550"/>
              <a:ext cx="117831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8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Ingat selalu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33450" y="423862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17854" y="4152900"/>
              <a:ext cx="26272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Jaga akurasi data buku dan anggota.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33450" y="450532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117854" y="4419600"/>
              <a:ext cx="25826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Periksa antrean reservasi setiap hari.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33450" y="477202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117854" y="4686300"/>
              <a:ext cx="2515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Ekspor laporan berkala untuk arsip.</a:t>
              </a:r>
            </a:p>
          </p:txBody>
        </p:sp>
      </p:grpSp>
      <p:grpSp>
        <p:nvGrpSpPr>
          <p:cNvPr id="48" name="c2"/>
          <p:cNvGrpSpPr/>
          <p:nvPr/>
        </p:nvGrpSpPr>
        <p:grpSpPr>
          <a:xfrm>
            <a:off x="6248400" y="3333750"/>
            <a:ext cx="5257800" cy="1905000"/>
            <a:chOff x="6248400" y="3333750"/>
            <a:chExt cx="5257800" cy="1905000"/>
          </a:xfrm>
        </p:grpSpPr>
        <p:sp>
          <p:nvSpPr>
            <p:cNvPr id="35" name="Rectangle 35"/>
            <p:cNvSpPr/>
            <p:nvPr/>
          </p:nvSpPr>
          <p:spPr>
            <a:xfrm>
              <a:off x="6248400" y="3333750"/>
              <a:ext cx="5257800" cy="190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48400" y="3333750"/>
              <a:ext cx="5257800" cy="4762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529388" y="3652838"/>
              <a:ext cx="200026" cy="200026"/>
              <a:chOff x="6529388" y="3652838"/>
              <a:chExt cx="200026" cy="20002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529388" y="36528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629400" y="38084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607175" y="3694605"/>
                <a:ext cx="52232" cy="74914"/>
              </a:xfrm>
              <a:custGeom>
                <a:avLst/>
                <a:gdLst/>
                <a:ahLst/>
                <a:cxnLst/>
                <a:rect l="l" t="t" r="r" b="b"/>
                <a:pathLst>
                  <a:path w="52232" h="74914">
                    <a:moveTo>
                      <a:pt x="22225" y="74914"/>
                    </a:moveTo>
                    <a:cubicBezTo>
                      <a:pt x="21805" y="67504"/>
                      <a:pt x="26335" y="60708"/>
                      <a:pt x="33338" y="58246"/>
                    </a:cubicBezTo>
                    <a:cubicBezTo>
                      <a:pt x="44791" y="53865"/>
                      <a:pt x="52232" y="42733"/>
                      <a:pt x="51899" y="30474"/>
                    </a:cubicBezTo>
                    <a:cubicBezTo>
                      <a:pt x="51567" y="18216"/>
                      <a:pt x="43532" y="7504"/>
                      <a:pt x="31858" y="3752"/>
                    </a:cubicBezTo>
                    <a:cubicBezTo>
                      <a:pt x="20183" y="0"/>
                      <a:pt x="7412" y="4026"/>
                      <a:pt x="0" y="13795"/>
                    </a:cubicBez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869049" y="3638550"/>
              <a:ext cx="1514757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8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Bantuan teknis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96050" y="423862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80454" y="4152900"/>
              <a:ext cx="21605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Catat pesan galat bila muncul.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96050" y="450532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80454" y="4419600"/>
              <a:ext cx="21665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Hubungi administrator sistem.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96050" y="477202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80454" y="4686300"/>
              <a:ext cx="26801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Sertakan langkah yang Anda lakukan.</a:t>
              </a:r>
            </a:p>
          </p:txBody>
        </p:sp>
      </p:grpSp>
      <p:grpSp>
        <p:nvGrpSpPr>
          <p:cNvPr id="58" name="n1"/>
          <p:cNvGrpSpPr/>
          <p:nvPr/>
        </p:nvGrpSpPr>
        <p:grpSpPr>
          <a:xfrm>
            <a:off x="685800" y="5429250"/>
            <a:ext cx="10820400" cy="704850"/>
            <a:chOff x="685800" y="5429250"/>
            <a:chExt cx="10820400" cy="704850"/>
          </a:xfrm>
        </p:grpSpPr>
        <p:sp>
          <p:nvSpPr>
            <p:cNvPr id="49" name="Rectangle 49"/>
            <p:cNvSpPr/>
            <p:nvPr/>
          </p:nvSpPr>
          <p:spPr>
            <a:xfrm>
              <a:off x="685800" y="5429250"/>
              <a:ext cx="10820400" cy="704850"/>
            </a:xfrm>
            <a:prstGeom prst="rect">
              <a:avLst/>
            </a:prstGeom>
            <a:solidFill>
              <a:srgbClr val="EFEADD"/>
            </a:solidFill>
            <a:ln w="9525">
              <a:solidFill>
                <a:srgbClr val="D9D2C2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85800" y="5429250"/>
              <a:ext cx="47625" cy="70485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945356" y="5703173"/>
              <a:ext cx="195262" cy="150732"/>
              <a:chOff x="945356" y="5703173"/>
              <a:chExt cx="195262" cy="150732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945356" y="5837316"/>
                <a:ext cx="185737" cy="16589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6589">
                    <a:moveTo>
                      <a:pt x="0" y="16589"/>
                    </a:moveTo>
                    <a:cubicBezTo>
                      <a:pt x="28734" y="0"/>
                      <a:pt x="64135" y="0"/>
                      <a:pt x="92868" y="16589"/>
                    </a:cubicBezTo>
                    <a:cubicBezTo>
                      <a:pt x="121602" y="0"/>
                      <a:pt x="157003" y="0"/>
                      <a:pt x="185737" y="16589"/>
                    </a:cubicBezTo>
                  </a:path>
                </a:pathLst>
              </a:custGeom>
              <a:noFill/>
              <a:ln w="20637">
                <a:solidFill>
                  <a:srgbClr val="3F5D3A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945356" y="5703173"/>
                <a:ext cx="185737" cy="16589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6589">
                    <a:moveTo>
                      <a:pt x="0" y="16589"/>
                    </a:moveTo>
                    <a:cubicBezTo>
                      <a:pt x="28734" y="0"/>
                      <a:pt x="64135" y="0"/>
                      <a:pt x="92868" y="16589"/>
                    </a:cubicBezTo>
                    <a:cubicBezTo>
                      <a:pt x="121602" y="0"/>
                      <a:pt x="157003" y="0"/>
                      <a:pt x="185737" y="16589"/>
                    </a:cubicBezTo>
                  </a:path>
                </a:pathLst>
              </a:custGeom>
              <a:noFill/>
              <a:ln w="20637">
                <a:solidFill>
                  <a:srgbClr val="3F5D3A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945356" y="5719762"/>
                <a:ext cx="9525" cy="13414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4143">
                    <a:moveTo>
                      <a:pt x="0" y="0"/>
                    </a:moveTo>
                    <a:lnTo>
                      <a:pt x="0" y="134143"/>
                    </a:lnTo>
                  </a:path>
                </a:pathLst>
              </a:custGeom>
              <a:noFill/>
              <a:ln w="20637">
                <a:solidFill>
                  <a:srgbClr val="3F5D3A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038225" y="5719762"/>
                <a:ext cx="9525" cy="13414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4143">
                    <a:moveTo>
                      <a:pt x="0" y="0"/>
                    </a:moveTo>
                    <a:lnTo>
                      <a:pt x="0" y="134143"/>
                    </a:lnTo>
                  </a:path>
                </a:pathLst>
              </a:custGeom>
              <a:noFill/>
              <a:ln w="20637">
                <a:solidFill>
                  <a:srgbClr val="3F5D3A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131093" y="5719762"/>
                <a:ext cx="9525" cy="13414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4143">
                    <a:moveTo>
                      <a:pt x="0" y="0"/>
                    </a:moveTo>
                    <a:lnTo>
                      <a:pt x="0" y="134143"/>
                    </a:lnTo>
                  </a:path>
                </a:pathLst>
              </a:custGeom>
              <a:noFill/>
              <a:ln w="20637">
                <a:solidFill>
                  <a:srgbClr val="3F5D3A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270254" y="5695950"/>
              <a:ext cx="56209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Terima kasih atas kerja Anda menjaga koleksi tetap tertata dan mudah diakses.</a:t>
              </a:r>
            </a:p>
          </p:txBody>
        </p:sp>
      </p:grpSp>
      <p:grpSp>
        <p:nvGrpSpPr>
          <p:cNvPr id="62" name="ftr"/>
          <p:cNvGrpSpPr/>
          <p:nvPr/>
        </p:nvGrpSpPr>
        <p:grpSpPr>
          <a:xfrm>
            <a:off x="680847" y="6362700"/>
            <a:ext cx="10830306" cy="324993"/>
            <a:chOff x="680847" y="6362700"/>
            <a:chExt cx="10830306" cy="324993"/>
          </a:xfrm>
        </p:grpSpPr>
        <p:sp>
          <p:nvSpPr>
            <p:cNvPr id="59" name="Line 59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80847" y="6496050"/>
              <a:ext cx="24956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Perpustakaan · Panduan Petugas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932747" y="6496050"/>
              <a:ext cx="5784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14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anduan_admin">
  <a:themeElements>
    <a:clrScheme name="panduan_admi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nduan_admin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nduan_admi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id-ID</dc:language>
  <cp:lastModifiedBy/>
  <cp:revision>1</cp:revision>
  <dcterms:created xsi:type="dcterms:W3CDTF">2026-10-11T06:12:33Z</dcterms:created>
  <dcterms:modified xsi:type="dcterms:W3CDTF">2026-10-11T06:12:33Z</dcterms:modified>
  <cp:category/>
  <cp:contentStatus/>
</cp:coreProperties>
</file>