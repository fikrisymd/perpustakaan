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id-ID"/>
    </a:defPPr>
    <a:lvl1pPr marL="0" algn="l" defTabSz="457200" rtl="0" eaLnBrk="1" latinLnBrk="0" hangingPunct="1">
      <a:defRPr sz="1800" kern="1200" lang="id-ID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id-ID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id-ID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id-ID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id-ID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id-ID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id-ID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id-ID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id-ID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anduan_user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id-ID" smtClean="0"/>
              <a:t>1/27/13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anduan_user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id-ID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id-ID" smtClean="0"/>
              <a:t>1/27/13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id-ID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id-ID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id-ID" smtClean="0"/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id-ID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id-ID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id-ID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id-ID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id-ID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id-ID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id-ID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id-ID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id-ID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id-ID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457200" rtl="0" eaLnBrk="1" latinLnBrk="0" hangingPunct="1">
        <a:defRPr sz="1800" kern="1200" lang="id-ID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id-ID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id-ID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id-ID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id-ID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id-ID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id-ID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id-ID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id-ID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-spine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3F5D3A"/>
          </a:solidFill>
          <a:ln>
            <a:noFill/>
          </a:ln>
        </p:spPr>
      </p:sp>
      <p:sp>
        <p:nvSpPr>
          <p:cNvPr id="3" name="deco-panel"/>
          <p:cNvSpPr/>
          <p:nvPr/>
        </p:nvSpPr>
        <p:spPr>
          <a:xfrm>
            <a:off x="8382000" y="0"/>
            <a:ext cx="3810000" cy="6858000"/>
          </a:xfrm>
          <a:prstGeom prst="rect">
            <a:avLst/>
          </a:prstGeom>
          <a:solidFill>
            <a:srgbClr val="3F5D3A"/>
          </a:solidFill>
          <a:ln>
            <a:noFill/>
          </a:ln>
        </p:spPr>
      </p:sp>
      <p:sp>
        <p:nvSpPr>
          <p:cNvPr id="4" name="deco-top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B08A3E"/>
          </a:solidFill>
          <a:ln>
            <a:noFill/>
          </a:ln>
        </p:spPr>
      </p:sp>
      <p:grpSp>
        <p:nvGrpSpPr>
          <p:cNvPr id="9" name="cover-title"/>
          <p:cNvGrpSpPr/>
          <p:nvPr/>
        </p:nvGrpSpPr>
        <p:grpSpPr>
          <a:xfrm>
            <a:off x="819150" y="1765300"/>
            <a:ext cx="5266825" cy="2659952"/>
            <a:chOff x="819150" y="1765300"/>
            <a:chExt cx="5266825" cy="2659952"/>
          </a:xfrm>
        </p:grpSpPr>
        <p:sp>
          <p:nvSpPr>
            <p:cNvPr id="5" name="TextBox 5"/>
            <p:cNvSpPr txBox="1"/>
            <p:nvPr/>
          </p:nvSpPr>
          <p:spPr>
            <a:xfrm>
              <a:off x="832104" y="1765300"/>
              <a:ext cx="37929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spc="300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PANDUAN PENGGUNA · VERSI 1.0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19150" y="2247900"/>
              <a:ext cx="5266825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4650" b="1" dirty="0">
                  <a:solidFill>
                    <a:srgbClr val="23201B"/>
                  </a:solidFill>
                  <a:latin typeface="+mj-lt"/>
                  <a:ea typeface="+mj-ea"/>
                  <a:cs typeface="+mj-cs"/>
                </a:rPr>
                <a:t>Buku Panduan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19150" y="2914650"/>
              <a:ext cx="4849317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4650" b="1" dirty="0">
                  <a:solidFill>
                    <a:srgbClr val="3F5D3A"/>
                  </a:solidFill>
                  <a:latin typeface="+mj-lt"/>
                  <a:ea typeface="+mj-ea"/>
                  <a:cs typeface="+mj-cs"/>
                </a:rPr>
                <a:t>Perpustakaan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0961" y="3860800"/>
              <a:ext cx="4097700" cy="564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id-ID" sz="142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Langkah demi langkah menelusuri katalog,</a:t>
              </a:r>
              <a:br>
                <a:rPr lang="id-ID" sz="142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</a:br>
              <a:r>
                <a:rPr lang="id-ID" sz="142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mengajukan reservasi, dan memantau peminjaman.</a:t>
              </a:r>
            </a:p>
          </p:txBody>
        </p:sp>
      </p:grpSp>
      <p:grpSp>
        <p:nvGrpSpPr>
          <p:cNvPr id="12" name="cover-meta"/>
          <p:cNvGrpSpPr/>
          <p:nvPr/>
        </p:nvGrpSpPr>
        <p:grpSpPr>
          <a:xfrm>
            <a:off x="832866" y="5715000"/>
            <a:ext cx="6958584" cy="605409"/>
            <a:chOff x="832866" y="5715000"/>
            <a:chExt cx="6958584" cy="605409"/>
          </a:xfrm>
        </p:grpSpPr>
        <p:sp>
          <p:nvSpPr>
            <p:cNvPr id="10" name="Line 10"/>
            <p:cNvSpPr/>
            <p:nvPr/>
          </p:nvSpPr>
          <p:spPr>
            <a:xfrm>
              <a:off x="838200" y="5715000"/>
              <a:ext cx="6953250" cy="9525"/>
            </a:xfrm>
            <a:custGeom>
              <a:avLst/>
              <a:gdLst/>
              <a:ahLst/>
              <a:cxnLst/>
              <a:rect l="l" t="t" r="r" b="b"/>
              <a:pathLst>
                <a:path w="6953250" h="9525">
                  <a:moveTo>
                    <a:pt x="0" y="0"/>
                  </a:moveTo>
                  <a:lnTo>
                    <a:pt x="695325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32866" y="5867400"/>
              <a:ext cx="2174698" cy="4530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id-ID" sz="105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SISTEM INFORMASI PERPUSTAKAAN</a:t>
              </a:r>
              <a:br>
                <a:rPr lang="id-ID" sz="105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</a:br>
              <a:r>
                <a:rPr lang="id-ID" sz="105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EDISI 2026 · UNTUK ANGGOTA</a:t>
              </a:r>
            </a:p>
          </p:txBody>
        </p:sp>
      </p:grpSp>
      <p:grpSp>
        <p:nvGrpSpPr>
          <p:cNvPr id="23" name="cover-panel"/>
          <p:cNvGrpSpPr/>
          <p:nvPr/>
        </p:nvGrpSpPr>
        <p:grpSpPr>
          <a:xfrm>
            <a:off x="9039606" y="2566749"/>
            <a:ext cx="2012189" cy="2217595"/>
            <a:chOff x="9039606" y="2566749"/>
            <a:chExt cx="2012189" cy="2217595"/>
          </a:xfrm>
        </p:grpSpPr>
        <p:grpSp>
          <p:nvGrpSpPr>
            <p:cNvPr id="20" name="Group 20"/>
            <p:cNvGrpSpPr/>
            <p:nvPr/>
          </p:nvGrpSpPr>
          <p:grpSpPr>
            <a:xfrm>
              <a:off x="9286875" y="2566749"/>
              <a:ext cx="766719" cy="772001"/>
              <a:chOff x="9286875" y="2566749"/>
              <a:chExt cx="766719" cy="77200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9286875" y="2571750"/>
                <a:ext cx="1905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76200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142875" y="0"/>
                    </a:lnTo>
                    <a:cubicBezTo>
                      <a:pt x="169178" y="0"/>
                      <a:pt x="190500" y="21322"/>
                      <a:pt x="190500" y="47625"/>
                    </a:cubicBezTo>
                    <a:lnTo>
                      <a:pt x="190500" y="714375"/>
                    </a:lnTo>
                    <a:cubicBezTo>
                      <a:pt x="190500" y="740678"/>
                      <a:pt x="169178" y="762000"/>
                      <a:pt x="142875" y="762000"/>
                    </a:cubicBezTo>
                    <a:lnTo>
                      <a:pt x="47625" y="762000"/>
                    </a:lnTo>
                    <a:cubicBezTo>
                      <a:pt x="21322" y="762000"/>
                      <a:pt x="0" y="740678"/>
                      <a:pt x="0" y="714375"/>
                    </a:cubicBezTo>
                    <a:lnTo>
                      <a:pt x="0" y="47625"/>
                    </a:lnTo>
                  </a:path>
                </a:pathLst>
              </a:custGeom>
              <a:noFill/>
              <a:ln w="52388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477375" y="2571750"/>
                <a:ext cx="1905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76200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142875" y="0"/>
                    </a:lnTo>
                    <a:cubicBezTo>
                      <a:pt x="169178" y="0"/>
                      <a:pt x="190500" y="21322"/>
                      <a:pt x="190500" y="47625"/>
                    </a:cubicBezTo>
                    <a:lnTo>
                      <a:pt x="190500" y="714375"/>
                    </a:lnTo>
                    <a:cubicBezTo>
                      <a:pt x="190500" y="740678"/>
                      <a:pt x="169178" y="762000"/>
                      <a:pt x="142875" y="762000"/>
                    </a:cubicBezTo>
                    <a:lnTo>
                      <a:pt x="47625" y="762000"/>
                    </a:lnTo>
                    <a:cubicBezTo>
                      <a:pt x="21322" y="762000"/>
                      <a:pt x="0" y="740678"/>
                      <a:pt x="0" y="714375"/>
                    </a:cubicBezTo>
                    <a:lnTo>
                      <a:pt x="0" y="47625"/>
                    </a:lnTo>
                  </a:path>
                </a:pathLst>
              </a:custGeom>
              <a:noFill/>
              <a:ln w="52388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286875" y="276225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52388">
                <a:solidFill>
                  <a:srgbClr val="FFFFF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477375" y="314325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52388">
                <a:solidFill>
                  <a:srgbClr val="FFFF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663156" y="2566749"/>
                <a:ext cx="390438" cy="772001"/>
              </a:xfrm>
              <a:custGeom>
                <a:avLst/>
                <a:gdLst/>
                <a:ahLst/>
                <a:cxnLst/>
                <a:rect l="l" t="t" r="r" b="b"/>
                <a:pathLst>
                  <a:path w="390438" h="772001">
                    <a:moveTo>
                      <a:pt x="42962" y="31671"/>
                    </a:moveTo>
                    <a:lnTo>
                      <a:pt x="146975" y="6429"/>
                    </a:lnTo>
                    <a:cubicBezTo>
                      <a:pt x="173740" y="0"/>
                      <a:pt x="200934" y="15478"/>
                      <a:pt x="208030" y="41291"/>
                    </a:cubicBezTo>
                    <a:lnTo>
                      <a:pt x="384005" y="680323"/>
                    </a:lnTo>
                    <a:cubicBezTo>
                      <a:pt x="390438" y="704568"/>
                      <a:pt x="377355" y="729725"/>
                      <a:pt x="353810" y="738378"/>
                    </a:cubicBezTo>
                    <a:lnTo>
                      <a:pt x="347476" y="740331"/>
                    </a:lnTo>
                    <a:lnTo>
                      <a:pt x="243463" y="765572"/>
                    </a:lnTo>
                    <a:cubicBezTo>
                      <a:pt x="216698" y="772001"/>
                      <a:pt x="189504" y="756523"/>
                      <a:pt x="182408" y="730710"/>
                    </a:cubicBezTo>
                    <a:lnTo>
                      <a:pt x="6434" y="91678"/>
                    </a:lnTo>
                    <a:cubicBezTo>
                      <a:pt x="0" y="67433"/>
                      <a:pt x="13084" y="42277"/>
                      <a:pt x="36628" y="33623"/>
                    </a:cubicBezTo>
                    <a:lnTo>
                      <a:pt x="42962" y="31671"/>
                    </a:lnTo>
                  </a:path>
                </a:pathLst>
              </a:custGeom>
              <a:noFill/>
              <a:ln w="52388">
                <a:solidFill>
                  <a:srgbClr val="FFFFF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715500" y="2762250"/>
                <a:ext cx="1905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47625">
                    <a:moveTo>
                      <a:pt x="0" y="47625"/>
                    </a:moveTo>
                    <a:lnTo>
                      <a:pt x="190500" y="0"/>
                    </a:lnTo>
                  </a:path>
                </a:pathLst>
              </a:custGeom>
              <a:noFill/>
              <a:ln w="52388">
                <a:solidFill>
                  <a:srgbClr val="FFFF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9810750" y="3096578"/>
                <a:ext cx="186833" cy="46672"/>
              </a:xfrm>
              <a:custGeom>
                <a:avLst/>
                <a:gdLst/>
                <a:ahLst/>
                <a:cxnLst/>
                <a:rect l="l" t="t" r="r" b="b"/>
                <a:pathLst>
                  <a:path w="186833" h="46672">
                    <a:moveTo>
                      <a:pt x="0" y="46672"/>
                    </a:moveTo>
                    <a:lnTo>
                      <a:pt x="186833" y="0"/>
                    </a:lnTo>
                  </a:path>
                </a:pathLst>
              </a:custGeom>
              <a:noFill/>
              <a:ln w="52388">
                <a:solidFill>
                  <a:srgbClr val="FFFFFF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9043035" y="4127500"/>
              <a:ext cx="15345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225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UNTUK ANGGOTA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39606" y="4432300"/>
              <a:ext cx="20121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80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Panduan lengkap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"/>
          <p:cNvGrpSpPr/>
          <p:nvPr/>
        </p:nvGrpSpPr>
        <p:grpSpPr>
          <a:xfrm>
            <a:off x="672084" y="698500"/>
            <a:ext cx="10839069" cy="892175"/>
            <a:chOff x="672084" y="698500"/>
            <a:chExt cx="10839069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680085" y="698500"/>
              <a:ext cx="11756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22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DAFTAR ISI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965200"/>
              <a:ext cx="199964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2700" b="1" dirty="0">
                  <a:solidFill>
                    <a:srgbClr val="23201B"/>
                  </a:solidFill>
                  <a:latin typeface="+mj-lt"/>
                  <a:ea typeface="+mj-ea"/>
                  <a:cs typeface="+mj-cs"/>
                </a:rPr>
                <a:t>Daftar Isi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954529" y="723900"/>
              <a:ext cx="155662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15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PANDUAN PENGGUNA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5811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</p:grpSp>
      <p:grpSp>
        <p:nvGrpSpPr>
          <p:cNvPr id="27" name="toc-0"/>
          <p:cNvGrpSpPr/>
          <p:nvPr/>
        </p:nvGrpSpPr>
        <p:grpSpPr>
          <a:xfrm>
            <a:off x="680085" y="2203450"/>
            <a:ext cx="5269230" cy="2435225"/>
            <a:chOff x="680085" y="2203450"/>
            <a:chExt cx="5269230" cy="2435225"/>
          </a:xfrm>
        </p:grpSpPr>
        <p:sp>
          <p:nvSpPr>
            <p:cNvPr id="7" name="TextBox 7"/>
            <p:cNvSpPr txBox="1"/>
            <p:nvPr/>
          </p:nvSpPr>
          <p:spPr>
            <a:xfrm>
              <a:off x="680085" y="2241550"/>
              <a:ext cx="1873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7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92911" y="2203450"/>
              <a:ext cx="14810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42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Mengenal Sistem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200150" y="2495550"/>
              <a:ext cx="4171950" cy="9525"/>
            </a:xfrm>
            <a:custGeom>
              <a:avLst/>
              <a:gdLst/>
              <a:ahLst/>
              <a:cxnLst/>
              <a:rect l="l" t="t" r="r" b="b"/>
              <a:pathLst>
                <a:path w="4171950" h="9525">
                  <a:moveTo>
                    <a:pt x="0" y="0"/>
                  </a:moveTo>
                  <a:lnTo>
                    <a:pt x="417195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772033" y="224155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112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80085" y="2774950"/>
              <a:ext cx="1873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7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92911" y="2736850"/>
              <a:ext cx="13338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42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Membuat Akun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200150" y="3028950"/>
              <a:ext cx="4171950" cy="9525"/>
            </a:xfrm>
            <a:custGeom>
              <a:avLst/>
              <a:gdLst/>
              <a:ahLst/>
              <a:cxnLst/>
              <a:rect l="l" t="t" r="r" b="b"/>
              <a:pathLst>
                <a:path w="4171950" h="9525">
                  <a:moveTo>
                    <a:pt x="0" y="0"/>
                  </a:moveTo>
                  <a:lnTo>
                    <a:pt x="417195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772033" y="277495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112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80085" y="3308350"/>
              <a:ext cx="1873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7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92911" y="3270250"/>
              <a:ext cx="13682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42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Masuk &amp; Keluar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1200150" y="3562350"/>
              <a:ext cx="4171950" cy="9525"/>
            </a:xfrm>
            <a:custGeom>
              <a:avLst/>
              <a:gdLst/>
              <a:ahLst/>
              <a:cxnLst/>
              <a:rect l="l" t="t" r="r" b="b"/>
              <a:pathLst>
                <a:path w="4171950" h="9525">
                  <a:moveTo>
                    <a:pt x="0" y="0"/>
                  </a:moveTo>
                  <a:lnTo>
                    <a:pt x="417195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772033" y="330835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112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0085" y="3841750"/>
              <a:ext cx="1873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7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92911" y="3803650"/>
              <a:ext cx="16550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42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Menelusuri Katalog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1200150" y="4095750"/>
              <a:ext cx="4171950" cy="9525"/>
            </a:xfrm>
            <a:custGeom>
              <a:avLst/>
              <a:gdLst/>
              <a:ahLst/>
              <a:cxnLst/>
              <a:rect l="l" t="t" r="r" b="b"/>
              <a:pathLst>
                <a:path w="4171950" h="9525">
                  <a:moveTo>
                    <a:pt x="0" y="0"/>
                  </a:moveTo>
                  <a:lnTo>
                    <a:pt x="417195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772033" y="384175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112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06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0085" y="4375150"/>
              <a:ext cx="1873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7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92911" y="4337050"/>
              <a:ext cx="25406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42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Detail Buku &amp; Nomor Panggil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1200150" y="4629150"/>
              <a:ext cx="4171950" cy="9525"/>
            </a:xfrm>
            <a:custGeom>
              <a:avLst/>
              <a:gdLst/>
              <a:ahLst/>
              <a:cxnLst/>
              <a:rect l="l" t="t" r="r" b="b"/>
              <a:pathLst>
                <a:path w="4171950" h="9525">
                  <a:moveTo>
                    <a:pt x="0" y="0"/>
                  </a:moveTo>
                  <a:lnTo>
                    <a:pt x="417195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772033" y="437515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112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07</a:t>
              </a:r>
            </a:p>
          </p:txBody>
        </p:sp>
      </p:grpSp>
      <p:grpSp>
        <p:nvGrpSpPr>
          <p:cNvPr id="48" name="toc-1"/>
          <p:cNvGrpSpPr/>
          <p:nvPr/>
        </p:nvGrpSpPr>
        <p:grpSpPr>
          <a:xfrm>
            <a:off x="6242685" y="2203450"/>
            <a:ext cx="5269230" cy="2435225"/>
            <a:chOff x="6242685" y="2203450"/>
            <a:chExt cx="5269230" cy="2435225"/>
          </a:xfrm>
        </p:grpSpPr>
        <p:sp>
          <p:nvSpPr>
            <p:cNvPr id="28" name="TextBox 28"/>
            <p:cNvSpPr txBox="1"/>
            <p:nvPr/>
          </p:nvSpPr>
          <p:spPr>
            <a:xfrm>
              <a:off x="6242685" y="2241550"/>
              <a:ext cx="1873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7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06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55511" y="2203450"/>
              <a:ext cx="19007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42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Mengajukan Reservasi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6762750" y="2495550"/>
              <a:ext cx="4171950" cy="9525"/>
            </a:xfrm>
            <a:custGeom>
              <a:avLst/>
              <a:gdLst/>
              <a:ahLst/>
              <a:cxnLst/>
              <a:rect l="l" t="t" r="r" b="b"/>
              <a:pathLst>
                <a:path w="4171950" h="9525">
                  <a:moveTo>
                    <a:pt x="0" y="0"/>
                  </a:moveTo>
                  <a:lnTo>
                    <a:pt x="417195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1334633" y="224155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112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08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42685" y="2774950"/>
              <a:ext cx="1873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7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07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55511" y="2736850"/>
              <a:ext cx="24847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42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Memantau Reservasi &amp; Email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762750" y="3028950"/>
              <a:ext cx="4171950" cy="9525"/>
            </a:xfrm>
            <a:custGeom>
              <a:avLst/>
              <a:gdLst/>
              <a:ahLst/>
              <a:cxnLst/>
              <a:rect l="l" t="t" r="r" b="b"/>
              <a:pathLst>
                <a:path w="4171950" h="9525">
                  <a:moveTo>
                    <a:pt x="0" y="0"/>
                  </a:moveTo>
                  <a:lnTo>
                    <a:pt x="417195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334633" y="277495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112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09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42685" y="3308350"/>
              <a:ext cx="1873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7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08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55511" y="3270250"/>
              <a:ext cx="216722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42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Dasbor &amp; Riwayat Pinjam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6762750" y="3562350"/>
              <a:ext cx="4171950" cy="9525"/>
            </a:xfrm>
            <a:custGeom>
              <a:avLst/>
              <a:gdLst/>
              <a:ahLst/>
              <a:cxnLst/>
              <a:rect l="l" t="t" r="r" b="b"/>
              <a:pathLst>
                <a:path w="4171950" h="9525">
                  <a:moveTo>
                    <a:pt x="0" y="0"/>
                  </a:moveTo>
                  <a:lnTo>
                    <a:pt x="417195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1334633" y="330835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112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10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42685" y="3841750"/>
              <a:ext cx="1873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7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09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55511" y="3803650"/>
              <a:ext cx="21003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42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Profil &amp; Keamanan Akun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6762750" y="4095750"/>
              <a:ext cx="4171950" cy="9525"/>
            </a:xfrm>
            <a:custGeom>
              <a:avLst/>
              <a:gdLst/>
              <a:ahLst/>
              <a:cxnLst/>
              <a:rect l="l" t="t" r="r" b="b"/>
              <a:pathLst>
                <a:path w="4171950" h="9525">
                  <a:moveTo>
                    <a:pt x="0" y="0"/>
                  </a:moveTo>
                  <a:lnTo>
                    <a:pt x="417195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1334633" y="384175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112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11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42685" y="4375150"/>
              <a:ext cx="1873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7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10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55511" y="4337050"/>
              <a:ext cx="18983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42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Aturan Penting &amp; Tips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6762750" y="4629150"/>
              <a:ext cx="4171950" cy="9525"/>
            </a:xfrm>
            <a:custGeom>
              <a:avLst/>
              <a:gdLst/>
              <a:ahLst/>
              <a:cxnLst/>
              <a:rect l="l" t="t" r="r" b="b"/>
              <a:pathLst>
                <a:path w="4171950" h="9525">
                  <a:moveTo>
                    <a:pt x="0" y="0"/>
                  </a:moveTo>
                  <a:lnTo>
                    <a:pt x="417195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334633" y="437515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112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12</a:t>
              </a:r>
            </a:p>
          </p:txBody>
        </p:sp>
      </p:grpSp>
      <p:grpSp>
        <p:nvGrpSpPr>
          <p:cNvPr id="56" name="toc-note"/>
          <p:cNvGrpSpPr/>
          <p:nvPr/>
        </p:nvGrpSpPr>
        <p:grpSpPr>
          <a:xfrm>
            <a:off x="685800" y="5334000"/>
            <a:ext cx="10820400" cy="838200"/>
            <a:chOff x="685800" y="5334000"/>
            <a:chExt cx="10820400" cy="838200"/>
          </a:xfrm>
        </p:grpSpPr>
        <p:sp>
          <p:nvSpPr>
            <p:cNvPr id="49" name="Rectangle 49"/>
            <p:cNvSpPr/>
            <p:nvPr/>
          </p:nvSpPr>
          <p:spPr>
            <a:xfrm>
              <a:off x="685800" y="5334000"/>
              <a:ext cx="10820400" cy="838200"/>
            </a:xfrm>
            <a:prstGeom prst="rect">
              <a:avLst/>
            </a:prstGeom>
            <a:solidFill>
              <a:srgbClr val="EFEADD"/>
            </a:solidFill>
            <a:ln w="9525">
              <a:solidFill>
                <a:srgbClr val="D9D2C2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85800" y="5334000"/>
              <a:ext cx="47625" cy="838200"/>
            </a:xfrm>
            <a:prstGeom prst="rect">
              <a:avLst/>
            </a:prstGeom>
            <a:solidFill>
              <a:srgbClr val="B08A3E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945356" y="5660231"/>
              <a:ext cx="185737" cy="185737"/>
              <a:chOff x="945356" y="5660231"/>
              <a:chExt cx="185737" cy="185737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945356" y="5660231"/>
                <a:ext cx="185737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85737">
                    <a:moveTo>
                      <a:pt x="0" y="92868"/>
                    </a:moveTo>
                    <a:cubicBezTo>
                      <a:pt x="0" y="144158"/>
                      <a:pt x="41579" y="185737"/>
                      <a:pt x="92868" y="185737"/>
                    </a:cubicBezTo>
                    <a:cubicBezTo>
                      <a:pt x="144158" y="185737"/>
                      <a:pt x="185737" y="144158"/>
                      <a:pt x="185737" y="92868"/>
                    </a:cubicBezTo>
                    <a:cubicBezTo>
                      <a:pt x="185737" y="41579"/>
                      <a:pt x="144158" y="0"/>
                      <a:pt x="92868" y="0"/>
                    </a:cubicBezTo>
                    <a:cubicBezTo>
                      <a:pt x="41579" y="0"/>
                      <a:pt x="0" y="41579"/>
                      <a:pt x="0" y="92868"/>
                    </a:cubicBezTo>
                  </a:path>
                </a:pathLst>
              </a:custGeom>
              <a:noFill/>
              <a:ln w="20637">
                <a:solidFill>
                  <a:srgbClr val="B08A3E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038225" y="57221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03" y="0"/>
                    </a:lnTo>
                  </a:path>
                </a:pathLst>
              </a:custGeom>
              <a:noFill/>
              <a:ln w="20637">
                <a:solidFill>
                  <a:srgbClr val="B08A3E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027906" y="5753100"/>
                <a:ext cx="206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41275">
                    <a:moveTo>
                      <a:pt x="0" y="0"/>
                    </a:moveTo>
                    <a:lnTo>
                      <a:pt x="10319" y="0"/>
                    </a:lnTo>
                    <a:lnTo>
                      <a:pt x="10319" y="41275"/>
                    </a:lnTo>
                    <a:lnTo>
                      <a:pt x="20637" y="41275"/>
                    </a:lnTo>
                  </a:path>
                </a:pathLst>
              </a:custGeom>
              <a:noFill/>
              <a:ln w="20637">
                <a:solidFill>
                  <a:srgbClr val="B08A3E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270254" y="5667375"/>
              <a:ext cx="70407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Setiap bagian berdiri sendiri. Buka halaman yang Anda butuhkan tanpa harus membaca berurutan.</a:t>
              </a:r>
            </a:p>
          </p:txBody>
        </p:sp>
      </p:grpSp>
      <p:grpSp>
        <p:nvGrpSpPr>
          <p:cNvPr id="60" name="ftr"/>
          <p:cNvGrpSpPr/>
          <p:nvPr/>
        </p:nvGrpSpPr>
        <p:grpSpPr>
          <a:xfrm>
            <a:off x="680847" y="6362700"/>
            <a:ext cx="10830306" cy="324993"/>
            <a:chOff x="680847" y="6362700"/>
            <a:chExt cx="10830306" cy="324993"/>
          </a:xfrm>
        </p:grpSpPr>
        <p:sp>
          <p:nvSpPr>
            <p:cNvPr id="57" name="Line 57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80847" y="6496050"/>
              <a:ext cx="25782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Perpustakaan · Panduan Pengguna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932747" y="6496050"/>
              <a:ext cx="5784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02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"/>
          <p:cNvGrpSpPr/>
          <p:nvPr/>
        </p:nvGrpSpPr>
        <p:grpSpPr>
          <a:xfrm>
            <a:off x="672084" y="698500"/>
            <a:ext cx="10839069" cy="892175"/>
            <a:chOff x="672084" y="698500"/>
            <a:chExt cx="10839069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680085" y="698500"/>
              <a:ext cx="10560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22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BAGIAN 01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965200"/>
              <a:ext cx="351736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2700" b="1" dirty="0">
                  <a:solidFill>
                    <a:srgbClr val="23201B"/>
                  </a:solidFill>
                  <a:latin typeface="+mj-lt"/>
                  <a:ea typeface="+mj-ea"/>
                  <a:cs typeface="+mj-cs"/>
                </a:rPr>
                <a:t>Mengenal Sistem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954529" y="723900"/>
              <a:ext cx="155662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15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PANDUAN PENGGUNA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5811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</p:grpSp>
      <p:grpSp>
        <p:nvGrpSpPr>
          <p:cNvPr id="17" name="c1"/>
          <p:cNvGrpSpPr/>
          <p:nvPr/>
        </p:nvGrpSpPr>
        <p:grpSpPr>
          <a:xfrm>
            <a:off x="685800" y="1905000"/>
            <a:ext cx="3429000" cy="1905000"/>
            <a:chOff x="685800" y="1905000"/>
            <a:chExt cx="3429000" cy="1905000"/>
          </a:xfrm>
        </p:grpSpPr>
        <p:sp>
          <p:nvSpPr>
            <p:cNvPr id="7" name="Rectangle 7"/>
            <p:cNvSpPr/>
            <p:nvPr/>
          </p:nvSpPr>
          <p:spPr>
            <a:xfrm>
              <a:off x="685800" y="1905000"/>
              <a:ext cx="3429000" cy="190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905000"/>
              <a:ext cx="47625" cy="190500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969169" y="2185896"/>
              <a:ext cx="223837" cy="173923"/>
              <a:chOff x="969169" y="2185896"/>
              <a:chExt cx="223837" cy="17392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69169" y="2340677"/>
                <a:ext cx="214312" cy="1914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9142">
                    <a:moveTo>
                      <a:pt x="0" y="19142"/>
                    </a:moveTo>
                    <a:cubicBezTo>
                      <a:pt x="33154" y="0"/>
                      <a:pt x="74002" y="0"/>
                      <a:pt x="107156" y="19142"/>
                    </a:cubicBezTo>
                    <a:cubicBezTo>
                      <a:pt x="140311" y="0"/>
                      <a:pt x="181158" y="0"/>
                      <a:pt x="214312" y="19142"/>
                    </a:cubicBezTo>
                  </a:path>
                </a:pathLst>
              </a:custGeom>
              <a:noFill/>
              <a:ln w="23812">
                <a:solidFill>
                  <a:srgbClr val="3F5D3A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69169" y="2185896"/>
                <a:ext cx="214312" cy="1914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9142">
                    <a:moveTo>
                      <a:pt x="0" y="19142"/>
                    </a:moveTo>
                    <a:cubicBezTo>
                      <a:pt x="33154" y="0"/>
                      <a:pt x="74002" y="0"/>
                      <a:pt x="107156" y="19142"/>
                    </a:cubicBezTo>
                    <a:cubicBezTo>
                      <a:pt x="140311" y="0"/>
                      <a:pt x="181158" y="0"/>
                      <a:pt x="214312" y="19142"/>
                    </a:cubicBezTo>
                  </a:path>
                </a:pathLst>
              </a:custGeom>
              <a:noFill/>
              <a:ln w="23812">
                <a:solidFill>
                  <a:srgbClr val="3F5D3A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69169" y="2205038"/>
                <a:ext cx="9525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4781">
                    <a:moveTo>
                      <a:pt x="0" y="0"/>
                    </a:moveTo>
                    <a:lnTo>
                      <a:pt x="0" y="154781"/>
                    </a:lnTo>
                  </a:path>
                </a:pathLst>
              </a:custGeom>
              <a:noFill/>
              <a:ln w="23812">
                <a:solidFill>
                  <a:srgbClr val="3F5D3A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76325" y="2205038"/>
                <a:ext cx="9525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4781">
                    <a:moveTo>
                      <a:pt x="0" y="0"/>
                    </a:moveTo>
                    <a:lnTo>
                      <a:pt x="0" y="154781"/>
                    </a:lnTo>
                  </a:path>
                </a:pathLst>
              </a:custGeom>
              <a:noFill/>
              <a:ln w="23812">
                <a:solidFill>
                  <a:srgbClr val="3F5D3A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183481" y="2205038"/>
                <a:ext cx="9525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4781">
                    <a:moveTo>
                      <a:pt x="0" y="0"/>
                    </a:moveTo>
                    <a:lnTo>
                      <a:pt x="0" y="154781"/>
                    </a:lnTo>
                  </a:path>
                </a:pathLst>
              </a:custGeom>
              <a:noFill/>
              <a:ln w="23812">
                <a:solidFill>
                  <a:srgbClr val="3F5D3A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363599" y="2190750"/>
              <a:ext cx="10588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8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Satu pintu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27354" y="2508250"/>
              <a:ext cx="2097222" cy="7109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Telusuri koleksi, ajukan</a:t>
              </a:r>
              <a:b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</a:br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reservasi, dan pantau pinjaman</a:t>
              </a:r>
              <a:b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</a:br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dalam satu akun.</a:t>
              </a:r>
            </a:p>
          </p:txBody>
        </p:sp>
      </p:grpSp>
      <p:grpSp>
        <p:nvGrpSpPr>
          <p:cNvPr id="27" name="c2"/>
          <p:cNvGrpSpPr/>
          <p:nvPr/>
        </p:nvGrpSpPr>
        <p:grpSpPr>
          <a:xfrm>
            <a:off x="4381500" y="1905000"/>
            <a:ext cx="3429000" cy="1905000"/>
            <a:chOff x="4381500" y="1905000"/>
            <a:chExt cx="3429000" cy="1905000"/>
          </a:xfrm>
        </p:grpSpPr>
        <p:sp>
          <p:nvSpPr>
            <p:cNvPr id="18" name="Rectangle 18"/>
            <p:cNvSpPr/>
            <p:nvPr/>
          </p:nvSpPr>
          <p:spPr>
            <a:xfrm>
              <a:off x="4381500" y="1905000"/>
              <a:ext cx="3429000" cy="190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381500" y="1905000"/>
              <a:ext cx="47625" cy="190500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4664869" y="2169319"/>
              <a:ext cx="214312" cy="214313"/>
              <a:chOff x="4664869" y="2169319"/>
              <a:chExt cx="214312" cy="21431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4688681" y="2169319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23812">
                <a:solidFill>
                  <a:srgbClr val="3F5D3A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4664869" y="2312194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95250" y="0"/>
                    </a:lnTo>
                    <a:cubicBezTo>
                      <a:pt x="121553" y="0"/>
                      <a:pt x="142875" y="21322"/>
                      <a:pt x="142875" y="47625"/>
                    </a:cubicBezTo>
                    <a:lnTo>
                      <a:pt x="142875" y="71438"/>
                    </a:lnTo>
                  </a:path>
                </a:pathLst>
              </a:custGeom>
              <a:noFill/>
              <a:ln w="23812">
                <a:solidFill>
                  <a:srgbClr val="3F5D3A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819650" y="2170867"/>
                <a:ext cx="35812" cy="92273"/>
              </a:xfrm>
              <a:custGeom>
                <a:avLst/>
                <a:gdLst/>
                <a:ahLst/>
                <a:cxnLst/>
                <a:rect l="l" t="t" r="r" b="b"/>
                <a:pathLst>
                  <a:path w="35812" h="92273">
                    <a:moveTo>
                      <a:pt x="0" y="0"/>
                    </a:moveTo>
                    <a:cubicBezTo>
                      <a:pt x="21073" y="5396"/>
                      <a:pt x="35812" y="24384"/>
                      <a:pt x="35812" y="46137"/>
                    </a:cubicBezTo>
                    <a:cubicBezTo>
                      <a:pt x="35812" y="67890"/>
                      <a:pt x="21073" y="86878"/>
                      <a:pt x="0" y="92273"/>
                    </a:cubicBezTo>
                  </a:path>
                </a:pathLst>
              </a:custGeom>
              <a:noFill/>
              <a:ln w="23812">
                <a:solidFill>
                  <a:srgbClr val="3F5D3A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843462" y="2313980"/>
                <a:ext cx="35719" cy="69652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69652">
                    <a:moveTo>
                      <a:pt x="35719" y="69652"/>
                    </a:moveTo>
                    <a:lnTo>
                      <a:pt x="35719" y="45839"/>
                    </a:lnTo>
                    <a:cubicBezTo>
                      <a:pt x="35594" y="24224"/>
                      <a:pt x="20929" y="5403"/>
                      <a:pt x="0" y="0"/>
                    </a:cubicBezTo>
                  </a:path>
                </a:pathLst>
              </a:custGeom>
              <a:noFill/>
              <a:ln w="23812">
                <a:solidFill>
                  <a:srgbClr val="3F5D3A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5059299" y="2190750"/>
              <a:ext cx="1209092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8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Untuk siapa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23054" y="2508250"/>
              <a:ext cx="2081891" cy="7109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Anggota memakai katalog dan</a:t>
              </a:r>
              <a:b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</a:br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reservasi. Petugas mengelola</a:t>
              </a:r>
              <a:b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</a:br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buku dan laporan.</a:t>
              </a:r>
            </a:p>
          </p:txBody>
        </p:sp>
      </p:grpSp>
      <p:grpSp>
        <p:nvGrpSpPr>
          <p:cNvPr id="35" name="c3"/>
          <p:cNvGrpSpPr/>
          <p:nvPr/>
        </p:nvGrpSpPr>
        <p:grpSpPr>
          <a:xfrm>
            <a:off x="8077200" y="1905000"/>
            <a:ext cx="3429000" cy="1905000"/>
            <a:chOff x="8077200" y="1905000"/>
            <a:chExt cx="3429000" cy="1905000"/>
          </a:xfrm>
        </p:grpSpPr>
        <p:sp>
          <p:nvSpPr>
            <p:cNvPr id="28" name="Rectangle 28"/>
            <p:cNvSpPr/>
            <p:nvPr/>
          </p:nvSpPr>
          <p:spPr>
            <a:xfrm>
              <a:off x="8077200" y="1905000"/>
              <a:ext cx="3429000" cy="190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8077200" y="1905000"/>
              <a:ext cx="47625" cy="190500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8384381" y="2169319"/>
              <a:ext cx="166688" cy="214312"/>
              <a:chOff x="8384381" y="2169319"/>
              <a:chExt cx="166688" cy="214312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8384381" y="2193131"/>
                <a:ext cx="166688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90500">
                    <a:moveTo>
                      <a:pt x="47625" y="0"/>
                    </a:moveTo>
                    <a:lnTo>
                      <a:pt x="23812" y="0"/>
                    </a:lnTo>
                    <a:cubicBezTo>
                      <a:pt x="10661" y="0"/>
                      <a:pt x="0" y="10661"/>
                      <a:pt x="0" y="23812"/>
                    </a:cubicBezTo>
                    <a:lnTo>
                      <a:pt x="0" y="166688"/>
                    </a:lnTo>
                    <a:cubicBezTo>
                      <a:pt x="0" y="179839"/>
                      <a:pt x="10661" y="190500"/>
                      <a:pt x="23812" y="190500"/>
                    </a:cubicBezTo>
                    <a:lnTo>
                      <a:pt x="142875" y="190500"/>
                    </a:lnTo>
                    <a:cubicBezTo>
                      <a:pt x="156026" y="190500"/>
                      <a:pt x="166688" y="179839"/>
                      <a:pt x="166688" y="166688"/>
                    </a:cubicBezTo>
                    <a:lnTo>
                      <a:pt x="166688" y="23812"/>
                    </a:lnTo>
                    <a:cubicBezTo>
                      <a:pt x="166688" y="10661"/>
                      <a:pt x="156026" y="0"/>
                      <a:pt x="142875" y="0"/>
                    </a:cubicBezTo>
                    <a:lnTo>
                      <a:pt x="119062" y="0"/>
                    </a:lnTo>
                  </a:path>
                </a:pathLst>
              </a:custGeom>
              <a:noFill/>
              <a:ln w="23812">
                <a:solidFill>
                  <a:srgbClr val="3F5D3A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432006" y="2169319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47625" y="0"/>
                    </a:lnTo>
                    <a:cubicBezTo>
                      <a:pt x="60776" y="0"/>
                      <a:pt x="71438" y="10661"/>
                      <a:pt x="71438" y="23812"/>
                    </a:cubicBezTo>
                    <a:cubicBezTo>
                      <a:pt x="71438" y="36964"/>
                      <a:pt x="60776" y="47625"/>
                      <a:pt x="47625" y="47625"/>
                    </a:cubicBezTo>
                    <a:lnTo>
                      <a:pt x="23812" y="47625"/>
                    </a:lnTo>
                    <a:cubicBezTo>
                      <a:pt x="10661" y="47625"/>
                      <a:pt x="0" y="36964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3F5D3A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8754999" y="2190750"/>
              <a:ext cx="1308922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8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Aturan dasar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18754" y="2508250"/>
              <a:ext cx="1611843" cy="7109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Maksimal 3 buku aktif,</a:t>
              </a:r>
              <a:b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</a:br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masa pinjam 14 hari,</a:t>
              </a:r>
              <a:b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</a:br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denda Rp1.000 per hari.</a:t>
              </a:r>
            </a:p>
          </p:txBody>
        </p:sp>
      </p:grpSp>
      <p:grpSp>
        <p:nvGrpSpPr>
          <p:cNvPr id="43" name="n1"/>
          <p:cNvGrpSpPr/>
          <p:nvPr/>
        </p:nvGrpSpPr>
        <p:grpSpPr>
          <a:xfrm>
            <a:off x="685800" y="4191000"/>
            <a:ext cx="10820400" cy="819150"/>
            <a:chOff x="685800" y="4191000"/>
            <a:chExt cx="10820400" cy="819150"/>
          </a:xfrm>
        </p:grpSpPr>
        <p:sp>
          <p:nvSpPr>
            <p:cNvPr id="36" name="Rectangle 36"/>
            <p:cNvSpPr/>
            <p:nvPr/>
          </p:nvSpPr>
          <p:spPr>
            <a:xfrm>
              <a:off x="685800" y="4191000"/>
              <a:ext cx="10820400" cy="819150"/>
            </a:xfrm>
            <a:prstGeom prst="rect">
              <a:avLst/>
            </a:prstGeom>
            <a:solidFill>
              <a:srgbClr val="EFEADD"/>
            </a:solidFill>
            <a:ln w="9525">
              <a:solidFill>
                <a:srgbClr val="D9D2C2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85800" y="4191000"/>
              <a:ext cx="47625" cy="819150"/>
            </a:xfrm>
            <a:prstGeom prst="rect">
              <a:avLst/>
            </a:prstGeom>
            <a:solidFill>
              <a:srgbClr val="B08A3E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945356" y="4507706"/>
              <a:ext cx="185737" cy="185737"/>
              <a:chOff x="945356" y="4507706"/>
              <a:chExt cx="185737" cy="185737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945356" y="4507706"/>
                <a:ext cx="185737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85737">
                    <a:moveTo>
                      <a:pt x="0" y="92868"/>
                    </a:moveTo>
                    <a:cubicBezTo>
                      <a:pt x="0" y="144158"/>
                      <a:pt x="41579" y="185737"/>
                      <a:pt x="92868" y="185737"/>
                    </a:cubicBezTo>
                    <a:cubicBezTo>
                      <a:pt x="144158" y="185737"/>
                      <a:pt x="185737" y="144158"/>
                      <a:pt x="185737" y="92868"/>
                    </a:cubicBezTo>
                    <a:cubicBezTo>
                      <a:pt x="185737" y="41579"/>
                      <a:pt x="144158" y="0"/>
                      <a:pt x="92868" y="0"/>
                    </a:cubicBezTo>
                    <a:cubicBezTo>
                      <a:pt x="41579" y="0"/>
                      <a:pt x="0" y="41579"/>
                      <a:pt x="0" y="92868"/>
                    </a:cubicBezTo>
                  </a:path>
                </a:pathLst>
              </a:custGeom>
              <a:noFill/>
              <a:ln w="20637">
                <a:solidFill>
                  <a:srgbClr val="B08A3E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38225" y="45696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03" y="0"/>
                    </a:lnTo>
                  </a:path>
                </a:pathLst>
              </a:custGeom>
              <a:noFill/>
              <a:ln w="20637">
                <a:solidFill>
                  <a:srgbClr val="B08A3E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027906" y="4600575"/>
                <a:ext cx="206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41275">
                    <a:moveTo>
                      <a:pt x="0" y="0"/>
                    </a:moveTo>
                    <a:lnTo>
                      <a:pt x="10319" y="0"/>
                    </a:lnTo>
                    <a:lnTo>
                      <a:pt x="10319" y="41275"/>
                    </a:lnTo>
                    <a:lnTo>
                      <a:pt x="20637" y="41275"/>
                    </a:lnTo>
                  </a:path>
                </a:pathLst>
              </a:custGeom>
              <a:noFill/>
              <a:ln w="20637">
                <a:solidFill>
                  <a:srgbClr val="B08A3E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270254" y="4514850"/>
              <a:ext cx="71962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Panduan ini untuk anggota perpustakaan. Panduan khusus petugas tersedia pada dokumen terpisah.</a:t>
              </a:r>
            </a:p>
          </p:txBody>
        </p:sp>
      </p:grpSp>
      <p:grpSp>
        <p:nvGrpSpPr>
          <p:cNvPr id="48" name="s1"/>
          <p:cNvGrpSpPr/>
          <p:nvPr/>
        </p:nvGrpSpPr>
        <p:grpSpPr>
          <a:xfrm>
            <a:off x="685800" y="5314950"/>
            <a:ext cx="3429000" cy="858393"/>
            <a:chOff x="685800" y="5314950"/>
            <a:chExt cx="3429000" cy="858393"/>
          </a:xfrm>
        </p:grpSpPr>
        <p:sp>
          <p:nvSpPr>
            <p:cNvPr id="44" name="Rectangle 44"/>
            <p:cNvSpPr/>
            <p:nvPr/>
          </p:nvSpPr>
          <p:spPr>
            <a:xfrm>
              <a:off x="685800" y="5314950"/>
              <a:ext cx="34290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85800" y="5314950"/>
              <a:ext cx="3429000" cy="4762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22020" y="5568950"/>
              <a:ext cx="115644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2250" b="1" dirty="0">
                  <a:solidFill>
                    <a:srgbClr val="3F5D3A"/>
                  </a:solidFill>
                  <a:latin typeface="+mj-lt"/>
                  <a:ea typeface="+mj-ea"/>
                  <a:cs typeface="+mj-cs"/>
                </a:rPr>
                <a:t>14 hari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28497" y="5981700"/>
              <a:ext cx="10666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15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MASA PINJAM</a:t>
              </a:r>
            </a:p>
          </p:txBody>
        </p:sp>
      </p:grpSp>
      <p:grpSp>
        <p:nvGrpSpPr>
          <p:cNvPr id="53" name="s2"/>
          <p:cNvGrpSpPr/>
          <p:nvPr/>
        </p:nvGrpSpPr>
        <p:grpSpPr>
          <a:xfrm>
            <a:off x="4381500" y="5314950"/>
            <a:ext cx="3429000" cy="858393"/>
            <a:chOff x="4381500" y="5314950"/>
            <a:chExt cx="3429000" cy="858393"/>
          </a:xfrm>
        </p:grpSpPr>
        <p:sp>
          <p:nvSpPr>
            <p:cNvPr id="49" name="Rectangle 49"/>
            <p:cNvSpPr/>
            <p:nvPr/>
          </p:nvSpPr>
          <p:spPr>
            <a:xfrm>
              <a:off x="4381500" y="5314950"/>
              <a:ext cx="34290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4381500" y="5314950"/>
              <a:ext cx="3429000" cy="47625"/>
            </a:xfrm>
            <a:prstGeom prst="rect">
              <a:avLst/>
            </a:prstGeom>
            <a:solidFill>
              <a:srgbClr val="6B8A63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617720" y="5568950"/>
              <a:ext cx="114597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2250" b="1" dirty="0">
                  <a:solidFill>
                    <a:srgbClr val="6B8A63"/>
                  </a:solidFill>
                  <a:latin typeface="+mj-lt"/>
                  <a:ea typeface="+mj-ea"/>
                  <a:cs typeface="+mj-cs"/>
                </a:rPr>
                <a:t>3 buku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624197" y="5981700"/>
              <a:ext cx="136061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15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MAKSIMUM AKTIF</a:t>
              </a:r>
            </a:p>
          </p:txBody>
        </p:sp>
      </p:grpSp>
      <p:grpSp>
        <p:nvGrpSpPr>
          <p:cNvPr id="58" name="s3"/>
          <p:cNvGrpSpPr/>
          <p:nvPr/>
        </p:nvGrpSpPr>
        <p:grpSpPr>
          <a:xfrm>
            <a:off x="8077200" y="5314950"/>
            <a:ext cx="3429000" cy="858393"/>
            <a:chOff x="8077200" y="5314950"/>
            <a:chExt cx="3429000" cy="858393"/>
          </a:xfrm>
        </p:grpSpPr>
        <p:sp>
          <p:nvSpPr>
            <p:cNvPr id="54" name="Rectangle 54"/>
            <p:cNvSpPr/>
            <p:nvPr/>
          </p:nvSpPr>
          <p:spPr>
            <a:xfrm>
              <a:off x="8077200" y="5314950"/>
              <a:ext cx="34290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077200" y="5314950"/>
              <a:ext cx="3429000" cy="47625"/>
            </a:xfrm>
            <a:prstGeom prst="rect">
              <a:avLst/>
            </a:prstGeom>
            <a:solidFill>
              <a:srgbClr val="B08A3E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313420" y="5568950"/>
              <a:ext cx="157362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2250" b="1" dirty="0">
                  <a:solidFill>
                    <a:srgbClr val="B08A3E"/>
                  </a:solidFill>
                  <a:latin typeface="+mj-lt"/>
                  <a:ea typeface="+mj-ea"/>
                  <a:cs typeface="+mj-cs"/>
                </a:rPr>
                <a:t>Rp1.000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319897" y="5981700"/>
              <a:ext cx="136061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15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DENDA PER HARI</a:t>
              </a:r>
            </a:p>
          </p:txBody>
        </p:sp>
      </p:grpSp>
      <p:grpSp>
        <p:nvGrpSpPr>
          <p:cNvPr id="62" name="ftr"/>
          <p:cNvGrpSpPr/>
          <p:nvPr/>
        </p:nvGrpSpPr>
        <p:grpSpPr>
          <a:xfrm>
            <a:off x="680847" y="6362700"/>
            <a:ext cx="10830306" cy="324993"/>
            <a:chOff x="680847" y="6362700"/>
            <a:chExt cx="10830306" cy="324993"/>
          </a:xfrm>
        </p:grpSpPr>
        <p:sp>
          <p:nvSpPr>
            <p:cNvPr id="59" name="Line 59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80847" y="6496050"/>
              <a:ext cx="25782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Perpustakaan · Panduan Pengguna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932747" y="6496050"/>
              <a:ext cx="5784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03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"/>
          <p:cNvGrpSpPr/>
          <p:nvPr/>
        </p:nvGrpSpPr>
        <p:grpSpPr>
          <a:xfrm>
            <a:off x="672084" y="698500"/>
            <a:ext cx="10839069" cy="892175"/>
            <a:chOff x="672084" y="698500"/>
            <a:chExt cx="10839069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680085" y="698500"/>
              <a:ext cx="10560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22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BAGIAN 02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965200"/>
              <a:ext cx="319438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2700" b="1" dirty="0">
                  <a:solidFill>
                    <a:srgbClr val="23201B"/>
                  </a:solidFill>
                  <a:latin typeface="+mj-lt"/>
                  <a:ea typeface="+mj-ea"/>
                  <a:cs typeface="+mj-cs"/>
                </a:rPr>
                <a:t>Membuat Akun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954529" y="723900"/>
              <a:ext cx="155662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15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PANDUAN PENGGUNA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5811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</p:grpSp>
      <p:grpSp>
        <p:nvGrpSpPr>
          <p:cNvPr id="12" name="st0"/>
          <p:cNvGrpSpPr/>
          <p:nvPr/>
        </p:nvGrpSpPr>
        <p:grpSpPr>
          <a:xfrm>
            <a:off x="685800" y="1809750"/>
            <a:ext cx="10820400" cy="819150"/>
            <a:chOff x="685800" y="1809750"/>
            <a:chExt cx="10820400" cy="819150"/>
          </a:xfrm>
        </p:grpSpPr>
        <p:sp>
          <p:nvSpPr>
            <p:cNvPr id="7" name="Rectangle 7"/>
            <p:cNvSpPr/>
            <p:nvPr/>
          </p:nvSpPr>
          <p:spPr>
            <a:xfrm>
              <a:off x="685800" y="1809750"/>
              <a:ext cx="108204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33450" y="2000250"/>
              <a:ext cx="438150" cy="4381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86666" y="2092325"/>
              <a:ext cx="1317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73530" y="1971675"/>
              <a:ext cx="20277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0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Buka halaman Daftar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75054" y="2257425"/>
              <a:ext cx="36192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Klik tombol Daftar di kanan atas halaman beranda.</a:t>
              </a:r>
            </a:p>
          </p:txBody>
        </p:sp>
      </p:grpSp>
      <p:grpSp>
        <p:nvGrpSpPr>
          <p:cNvPr id="18" name="st1"/>
          <p:cNvGrpSpPr/>
          <p:nvPr/>
        </p:nvGrpSpPr>
        <p:grpSpPr>
          <a:xfrm>
            <a:off x="685800" y="2743200"/>
            <a:ext cx="10820400" cy="819150"/>
            <a:chOff x="685800" y="2743200"/>
            <a:chExt cx="10820400" cy="819150"/>
          </a:xfrm>
        </p:grpSpPr>
        <p:sp>
          <p:nvSpPr>
            <p:cNvPr id="13" name="Rectangle 13"/>
            <p:cNvSpPr/>
            <p:nvPr/>
          </p:nvSpPr>
          <p:spPr>
            <a:xfrm>
              <a:off x="685800" y="2743200"/>
              <a:ext cx="108204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933450" y="2933700"/>
              <a:ext cx="438150" cy="4381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70624" y="3025775"/>
              <a:ext cx="1638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73530" y="2905125"/>
              <a:ext cx="22923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0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Isi formulir pendaftaran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75054" y="3190875"/>
              <a:ext cx="3924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Masukkan nama lengkap, alamat email, dan kata sandi.</a:t>
              </a:r>
            </a:p>
          </p:txBody>
        </p:sp>
      </p:grpSp>
      <p:grpSp>
        <p:nvGrpSpPr>
          <p:cNvPr id="24" name="st2"/>
          <p:cNvGrpSpPr/>
          <p:nvPr/>
        </p:nvGrpSpPr>
        <p:grpSpPr>
          <a:xfrm>
            <a:off x="685800" y="3676650"/>
            <a:ext cx="10820400" cy="819150"/>
            <a:chOff x="685800" y="3676650"/>
            <a:chExt cx="10820400" cy="819150"/>
          </a:xfrm>
        </p:grpSpPr>
        <p:sp>
          <p:nvSpPr>
            <p:cNvPr id="19" name="Rectangle 19"/>
            <p:cNvSpPr/>
            <p:nvPr/>
          </p:nvSpPr>
          <p:spPr>
            <a:xfrm>
              <a:off x="685800" y="3676650"/>
              <a:ext cx="108204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933450" y="3867150"/>
              <a:ext cx="438150" cy="4381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70859" y="3959225"/>
              <a:ext cx="1633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73530" y="3838575"/>
              <a:ext cx="13714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0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Kirim formulir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75054" y="4124325"/>
              <a:ext cx="35218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Tekan tombol Daftar untuk membuat akun Anda.</a:t>
              </a:r>
            </a:p>
          </p:txBody>
        </p:sp>
      </p:grpSp>
      <p:grpSp>
        <p:nvGrpSpPr>
          <p:cNvPr id="30" name="st3"/>
          <p:cNvGrpSpPr/>
          <p:nvPr/>
        </p:nvGrpSpPr>
        <p:grpSpPr>
          <a:xfrm>
            <a:off x="685800" y="4610100"/>
            <a:ext cx="10820400" cy="819150"/>
            <a:chOff x="685800" y="4610100"/>
            <a:chExt cx="10820400" cy="819150"/>
          </a:xfrm>
        </p:grpSpPr>
        <p:sp>
          <p:nvSpPr>
            <p:cNvPr id="25" name="Rectangle 25"/>
            <p:cNvSpPr/>
            <p:nvPr/>
          </p:nvSpPr>
          <p:spPr>
            <a:xfrm>
              <a:off x="685800" y="4610100"/>
              <a:ext cx="108204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933450" y="4800600"/>
              <a:ext cx="438150" cy="4381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67937" y="4892675"/>
              <a:ext cx="1691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73530" y="4772025"/>
              <a:ext cx="17075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0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Akun siap dipakai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75054" y="5057775"/>
              <a:ext cx="3647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Anda otomatis masuk dan bisa menelusuri katalog.</a:t>
              </a:r>
            </a:p>
          </p:txBody>
        </p:sp>
      </p:grpSp>
      <p:grpSp>
        <p:nvGrpSpPr>
          <p:cNvPr id="38" name="n1"/>
          <p:cNvGrpSpPr/>
          <p:nvPr/>
        </p:nvGrpSpPr>
        <p:grpSpPr>
          <a:xfrm>
            <a:off x="685800" y="5676900"/>
            <a:ext cx="10820400" cy="495300"/>
            <a:chOff x="685800" y="5676900"/>
            <a:chExt cx="10820400" cy="495300"/>
          </a:xfrm>
        </p:grpSpPr>
        <p:sp>
          <p:nvSpPr>
            <p:cNvPr id="31" name="Rectangle 31"/>
            <p:cNvSpPr/>
            <p:nvPr/>
          </p:nvSpPr>
          <p:spPr>
            <a:xfrm>
              <a:off x="685800" y="5676900"/>
              <a:ext cx="10820400" cy="495300"/>
            </a:xfrm>
            <a:prstGeom prst="rect">
              <a:avLst/>
            </a:prstGeom>
            <a:solidFill>
              <a:srgbClr val="EFEADD"/>
            </a:solidFill>
            <a:ln w="9525">
              <a:solidFill>
                <a:srgbClr val="D9D2C2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85800" y="5676900"/>
              <a:ext cx="47625" cy="495300"/>
            </a:xfrm>
            <a:prstGeom prst="rect">
              <a:avLst/>
            </a:prstGeom>
            <a:solidFill>
              <a:srgbClr val="B08A3E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45356" y="5831681"/>
              <a:ext cx="185737" cy="185737"/>
              <a:chOff x="945356" y="5831681"/>
              <a:chExt cx="185737" cy="185737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945356" y="5831681"/>
                <a:ext cx="185737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85737">
                    <a:moveTo>
                      <a:pt x="0" y="92868"/>
                    </a:moveTo>
                    <a:cubicBezTo>
                      <a:pt x="0" y="144158"/>
                      <a:pt x="41579" y="185737"/>
                      <a:pt x="92868" y="185737"/>
                    </a:cubicBezTo>
                    <a:cubicBezTo>
                      <a:pt x="144158" y="185737"/>
                      <a:pt x="185737" y="144158"/>
                      <a:pt x="185737" y="92868"/>
                    </a:cubicBezTo>
                    <a:cubicBezTo>
                      <a:pt x="185737" y="41579"/>
                      <a:pt x="144158" y="0"/>
                      <a:pt x="92868" y="0"/>
                    </a:cubicBezTo>
                    <a:cubicBezTo>
                      <a:pt x="41579" y="0"/>
                      <a:pt x="0" y="41579"/>
                      <a:pt x="0" y="92868"/>
                    </a:cubicBezTo>
                  </a:path>
                </a:pathLst>
              </a:custGeom>
              <a:noFill/>
              <a:ln w="20637">
                <a:solidFill>
                  <a:srgbClr val="B08A3E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038225" y="58935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03" y="0"/>
                    </a:lnTo>
                  </a:path>
                </a:pathLst>
              </a:custGeom>
              <a:noFill/>
              <a:ln w="20637">
                <a:solidFill>
                  <a:srgbClr val="B08A3E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27906" y="5924550"/>
                <a:ext cx="206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41275">
                    <a:moveTo>
                      <a:pt x="0" y="0"/>
                    </a:moveTo>
                    <a:lnTo>
                      <a:pt x="10319" y="0"/>
                    </a:lnTo>
                    <a:lnTo>
                      <a:pt x="10319" y="41275"/>
                    </a:lnTo>
                    <a:lnTo>
                      <a:pt x="20637" y="41275"/>
                    </a:lnTo>
                  </a:path>
                </a:pathLst>
              </a:custGeom>
              <a:noFill/>
              <a:ln w="20637">
                <a:solidFill>
                  <a:srgbClr val="B08A3E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270254" y="5838825"/>
              <a:ext cx="55374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Gunakan email aktif — email dipakai untuk notifikasi reservasi dan pengingat.</a:t>
              </a:r>
            </a:p>
          </p:txBody>
        </p:sp>
      </p:grpSp>
      <p:grpSp>
        <p:nvGrpSpPr>
          <p:cNvPr id="42" name="ftr"/>
          <p:cNvGrpSpPr/>
          <p:nvPr/>
        </p:nvGrpSpPr>
        <p:grpSpPr>
          <a:xfrm>
            <a:off x="680847" y="6362700"/>
            <a:ext cx="10830306" cy="324993"/>
            <a:chOff x="680847" y="6362700"/>
            <a:chExt cx="10830306" cy="324993"/>
          </a:xfrm>
        </p:grpSpPr>
        <p:sp>
          <p:nvSpPr>
            <p:cNvPr id="39" name="Line 39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0847" y="6496050"/>
              <a:ext cx="25782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Perpustakaan · Panduan Pengguna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932747" y="6496050"/>
              <a:ext cx="5784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04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"/>
          <p:cNvGrpSpPr/>
          <p:nvPr/>
        </p:nvGrpSpPr>
        <p:grpSpPr>
          <a:xfrm>
            <a:off x="672084" y="698500"/>
            <a:ext cx="10839069" cy="892175"/>
            <a:chOff x="672084" y="698500"/>
            <a:chExt cx="10839069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680085" y="698500"/>
              <a:ext cx="10560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22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BAGIAN 03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965200"/>
              <a:ext cx="332840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2700" b="1" dirty="0">
                  <a:solidFill>
                    <a:srgbClr val="23201B"/>
                  </a:solidFill>
                  <a:latin typeface="+mj-lt"/>
                  <a:ea typeface="+mj-ea"/>
                  <a:cs typeface="+mj-cs"/>
                </a:rPr>
                <a:t>Masuk &amp; Keluar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954529" y="723900"/>
              <a:ext cx="155662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15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PANDUAN PENGGUNA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5811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</p:grpSp>
      <p:grpSp>
        <p:nvGrpSpPr>
          <p:cNvPr id="22" name="c1"/>
          <p:cNvGrpSpPr/>
          <p:nvPr/>
        </p:nvGrpSpPr>
        <p:grpSpPr>
          <a:xfrm>
            <a:off x="685800" y="1905000"/>
            <a:ext cx="5257800" cy="2857500"/>
            <a:chOff x="685800" y="1905000"/>
            <a:chExt cx="5257800" cy="2857500"/>
          </a:xfrm>
        </p:grpSpPr>
        <p:sp>
          <p:nvSpPr>
            <p:cNvPr id="7" name="Rectangle 7"/>
            <p:cNvSpPr/>
            <p:nvPr/>
          </p:nvSpPr>
          <p:spPr>
            <a:xfrm>
              <a:off x="685800" y="1905000"/>
              <a:ext cx="5257800" cy="2857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905000"/>
              <a:ext cx="5257800" cy="4762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977900" y="2235200"/>
              <a:ext cx="188913" cy="177801"/>
              <a:chOff x="977900" y="2235200"/>
              <a:chExt cx="188913" cy="17780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77900" y="2235200"/>
                <a:ext cx="122238" cy="177801"/>
              </a:xfrm>
              <a:custGeom>
                <a:avLst/>
                <a:gdLst/>
                <a:ahLst/>
                <a:cxnLst/>
                <a:rect l="l" t="t" r="r" b="b"/>
                <a:pathLst>
                  <a:path w="122238" h="177801">
                    <a:moveTo>
                      <a:pt x="122238" y="44450"/>
                    </a:moveTo>
                    <a:lnTo>
                      <a:pt x="122238" y="22225"/>
                    </a:lnTo>
                    <a:cubicBezTo>
                      <a:pt x="122238" y="9950"/>
                      <a:pt x="112287" y="0"/>
                      <a:pt x="100013" y="0"/>
                    </a:cubicBezTo>
                    <a:lnTo>
                      <a:pt x="22225" y="0"/>
                    </a:lnTo>
                    <a:cubicBezTo>
                      <a:pt x="9950" y="0"/>
                      <a:pt x="0" y="9950"/>
                      <a:pt x="0" y="22225"/>
                    </a:cubicBezTo>
                    <a:lnTo>
                      <a:pt x="0" y="155575"/>
                    </a:lnTo>
                    <a:cubicBezTo>
                      <a:pt x="0" y="167850"/>
                      <a:pt x="9950" y="177801"/>
                      <a:pt x="22225" y="177801"/>
                    </a:cubicBezTo>
                    <a:lnTo>
                      <a:pt x="100013" y="177801"/>
                    </a:lnTo>
                    <a:cubicBezTo>
                      <a:pt x="112287" y="177801"/>
                      <a:pt x="122238" y="167850"/>
                      <a:pt x="122238" y="155575"/>
                    </a:cubicBezTo>
                    <a:lnTo>
                      <a:pt x="122238" y="133350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22350" y="2290763"/>
                <a:ext cx="144463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33338">
                    <a:moveTo>
                      <a:pt x="144463" y="33338"/>
                    </a:moveTo>
                    <a:lnTo>
                      <a:pt x="0" y="33338"/>
                    </a:lnTo>
                    <a:lnTo>
                      <a:pt x="33338" y="0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22350" y="2324100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33338" y="33338"/>
                    </a:move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306449" y="2209800"/>
              <a:ext cx="152500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8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Masuk ke akun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933450" y="28098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17854" y="2724150"/>
              <a:ext cx="15683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Buka halaman Masuk.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33450" y="30765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17854" y="2990850"/>
              <a:ext cx="17083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Isi email dan kata sandi.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33450" y="33432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17854" y="3257550"/>
              <a:ext cx="15543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Tekan tombol Masuk.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33450" y="36099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17854" y="3524250"/>
              <a:ext cx="1914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Anda diarahkan ke dasbor.</a:t>
              </a:r>
            </a:p>
          </p:txBody>
        </p:sp>
      </p:grpSp>
      <p:grpSp>
        <p:nvGrpSpPr>
          <p:cNvPr id="38" name="c2"/>
          <p:cNvGrpSpPr/>
          <p:nvPr/>
        </p:nvGrpSpPr>
        <p:grpSpPr>
          <a:xfrm>
            <a:off x="6248400" y="1905000"/>
            <a:ext cx="5257800" cy="2857500"/>
            <a:chOff x="6248400" y="1905000"/>
            <a:chExt cx="5257800" cy="2857500"/>
          </a:xfrm>
        </p:grpSpPr>
        <p:sp>
          <p:nvSpPr>
            <p:cNvPr id="23" name="Rectangle 23"/>
            <p:cNvSpPr/>
            <p:nvPr/>
          </p:nvSpPr>
          <p:spPr>
            <a:xfrm>
              <a:off x="6248400" y="1905000"/>
              <a:ext cx="5257800" cy="2857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48400" y="1905000"/>
              <a:ext cx="5257800" cy="4762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6529388" y="2235200"/>
              <a:ext cx="200026" cy="177801"/>
              <a:chOff x="6529388" y="2235200"/>
              <a:chExt cx="200026" cy="177801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529388" y="2235200"/>
                <a:ext cx="122238" cy="177801"/>
              </a:xfrm>
              <a:custGeom>
                <a:avLst/>
                <a:gdLst/>
                <a:ahLst/>
                <a:cxnLst/>
                <a:rect l="l" t="t" r="r" b="b"/>
                <a:pathLst>
                  <a:path w="122238" h="177801">
                    <a:moveTo>
                      <a:pt x="122238" y="44450"/>
                    </a:moveTo>
                    <a:lnTo>
                      <a:pt x="122238" y="22225"/>
                    </a:lnTo>
                    <a:cubicBezTo>
                      <a:pt x="122238" y="9950"/>
                      <a:pt x="112287" y="0"/>
                      <a:pt x="100013" y="0"/>
                    </a:cubicBezTo>
                    <a:lnTo>
                      <a:pt x="22225" y="0"/>
                    </a:lnTo>
                    <a:cubicBezTo>
                      <a:pt x="9950" y="0"/>
                      <a:pt x="0" y="9950"/>
                      <a:pt x="0" y="22225"/>
                    </a:cubicBezTo>
                    <a:lnTo>
                      <a:pt x="0" y="155575"/>
                    </a:lnTo>
                    <a:cubicBezTo>
                      <a:pt x="0" y="167850"/>
                      <a:pt x="9950" y="177801"/>
                      <a:pt x="22225" y="177801"/>
                    </a:cubicBezTo>
                    <a:lnTo>
                      <a:pt x="100013" y="177801"/>
                    </a:lnTo>
                    <a:cubicBezTo>
                      <a:pt x="112287" y="177801"/>
                      <a:pt x="122238" y="167850"/>
                      <a:pt x="122238" y="155575"/>
                    </a:cubicBezTo>
                    <a:lnTo>
                      <a:pt x="122238" y="133350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596063" y="2290763"/>
                <a:ext cx="133350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33338">
                    <a:moveTo>
                      <a:pt x="0" y="33338"/>
                    </a:moveTo>
                    <a:lnTo>
                      <a:pt x="133350" y="33338"/>
                    </a:lnTo>
                    <a:lnTo>
                      <a:pt x="100013" y="0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696076" y="2324100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33338"/>
                    </a:moveTo>
                    <a:lnTo>
                      <a:pt x="33338" y="0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6869049" y="2209800"/>
              <a:ext cx="2084673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8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Keluar dengan aman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496050" y="28098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80454" y="2724150"/>
              <a:ext cx="2148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Klik nama Anda di kanan atas.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96050" y="30765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80454" y="2990850"/>
              <a:ext cx="1697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Pilih Keluar pada menu.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96050" y="33432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80454" y="3257550"/>
              <a:ext cx="21171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Sesi berakhir di perangkat ini.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96050" y="36099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80454" y="3524250"/>
              <a:ext cx="2522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Selalu keluar di komputer bersama.</a:t>
              </a:r>
            </a:p>
          </p:txBody>
        </p:sp>
      </p:grpSp>
      <p:grpSp>
        <p:nvGrpSpPr>
          <p:cNvPr id="45" name="n1"/>
          <p:cNvGrpSpPr/>
          <p:nvPr/>
        </p:nvGrpSpPr>
        <p:grpSpPr>
          <a:xfrm>
            <a:off x="685800" y="5143500"/>
            <a:ext cx="10820400" cy="762000"/>
            <a:chOff x="685800" y="5143500"/>
            <a:chExt cx="10820400" cy="762000"/>
          </a:xfrm>
        </p:grpSpPr>
        <p:sp>
          <p:nvSpPr>
            <p:cNvPr id="39" name="Rectangle 39"/>
            <p:cNvSpPr/>
            <p:nvPr/>
          </p:nvSpPr>
          <p:spPr>
            <a:xfrm>
              <a:off x="685800" y="5143500"/>
              <a:ext cx="10820400" cy="762000"/>
            </a:xfrm>
            <a:prstGeom prst="rect">
              <a:avLst/>
            </a:prstGeom>
            <a:solidFill>
              <a:srgbClr val="EFEADD"/>
            </a:solidFill>
            <a:ln w="9525">
              <a:solidFill>
                <a:srgbClr val="D9D2C2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85800" y="5143500"/>
              <a:ext cx="47625" cy="762000"/>
            </a:xfrm>
            <a:prstGeom prst="rect">
              <a:avLst/>
            </a:prstGeom>
            <a:solidFill>
              <a:srgbClr val="B08A3E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945356" y="5431633"/>
              <a:ext cx="185735" cy="185735"/>
              <a:chOff x="945356" y="5431633"/>
              <a:chExt cx="185735" cy="18573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945356" y="5431633"/>
                <a:ext cx="185735" cy="185735"/>
              </a:xfrm>
              <a:custGeom>
                <a:avLst/>
                <a:gdLst/>
                <a:ahLst/>
                <a:cxnLst/>
                <a:rect l="l" t="t" r="r" b="b"/>
                <a:pathLst>
                  <a:path w="185735" h="185735">
                    <a:moveTo>
                      <a:pt x="139870" y="8697"/>
                    </a:moveTo>
                    <a:lnTo>
                      <a:pt x="177038" y="45865"/>
                    </a:lnTo>
                    <a:cubicBezTo>
                      <a:pt x="182607" y="51432"/>
                      <a:pt x="185735" y="58984"/>
                      <a:pt x="185735" y="66858"/>
                    </a:cubicBezTo>
                    <a:cubicBezTo>
                      <a:pt x="185735" y="74732"/>
                      <a:pt x="182607" y="82284"/>
                      <a:pt x="177038" y="87852"/>
                    </a:cubicBezTo>
                    <a:lnTo>
                      <a:pt x="149766" y="115124"/>
                    </a:lnTo>
                    <a:cubicBezTo>
                      <a:pt x="144198" y="120692"/>
                      <a:pt x="136647" y="123821"/>
                      <a:pt x="128772" y="123821"/>
                    </a:cubicBezTo>
                    <a:cubicBezTo>
                      <a:pt x="120898" y="123821"/>
                      <a:pt x="113347" y="120692"/>
                      <a:pt x="107779" y="115124"/>
                    </a:cubicBezTo>
                    <a:lnTo>
                      <a:pt x="104673" y="112018"/>
                    </a:lnTo>
                    <a:lnTo>
                      <a:pt x="37003" y="179688"/>
                    </a:lnTo>
                    <a:cubicBezTo>
                      <a:pt x="33574" y="183116"/>
                      <a:pt x="29048" y="185228"/>
                      <a:pt x="24218" y="185652"/>
                    </a:cubicBezTo>
                    <a:lnTo>
                      <a:pt x="22412" y="185735"/>
                    </a:lnTo>
                    <a:lnTo>
                      <a:pt x="10319" y="185735"/>
                    </a:lnTo>
                    <a:cubicBezTo>
                      <a:pt x="5087" y="185734"/>
                      <a:pt x="684" y="181819"/>
                      <a:pt x="72" y="176624"/>
                    </a:cubicBezTo>
                    <a:lnTo>
                      <a:pt x="0" y="175416"/>
                    </a:lnTo>
                    <a:lnTo>
                      <a:pt x="0" y="163323"/>
                    </a:lnTo>
                    <a:cubicBezTo>
                      <a:pt x="1" y="158478"/>
                      <a:pt x="1707" y="153787"/>
                      <a:pt x="4819" y="150073"/>
                    </a:cubicBezTo>
                    <a:lnTo>
                      <a:pt x="6047" y="148732"/>
                    </a:lnTo>
                    <a:lnTo>
                      <a:pt x="10319" y="144460"/>
                    </a:lnTo>
                    <a:lnTo>
                      <a:pt x="30956" y="144460"/>
                    </a:lnTo>
                    <a:lnTo>
                      <a:pt x="30956" y="123823"/>
                    </a:lnTo>
                    <a:lnTo>
                      <a:pt x="51594" y="123823"/>
                    </a:lnTo>
                    <a:lnTo>
                      <a:pt x="51594" y="103185"/>
                    </a:lnTo>
                    <a:lnTo>
                      <a:pt x="73717" y="81062"/>
                    </a:lnTo>
                    <a:lnTo>
                      <a:pt x="70611" y="77956"/>
                    </a:lnTo>
                    <a:cubicBezTo>
                      <a:pt x="65043" y="72388"/>
                      <a:pt x="61914" y="64837"/>
                      <a:pt x="61914" y="56962"/>
                    </a:cubicBezTo>
                    <a:cubicBezTo>
                      <a:pt x="61914" y="49088"/>
                      <a:pt x="65043" y="41537"/>
                      <a:pt x="70611" y="35969"/>
                    </a:cubicBezTo>
                    <a:lnTo>
                      <a:pt x="97883" y="8697"/>
                    </a:lnTo>
                    <a:cubicBezTo>
                      <a:pt x="103451" y="3128"/>
                      <a:pt x="111003" y="0"/>
                      <a:pt x="118877" y="0"/>
                    </a:cubicBezTo>
                    <a:cubicBezTo>
                      <a:pt x="126751" y="0"/>
                      <a:pt x="134303" y="3128"/>
                      <a:pt x="139870" y="8697"/>
                    </a:cubicBezTo>
                  </a:path>
                </a:pathLst>
              </a:custGeom>
              <a:noFill/>
              <a:ln w="20637">
                <a:solidFill>
                  <a:srgbClr val="B08A3E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069181" y="54935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03" y="0"/>
                    </a:lnTo>
                  </a:path>
                </a:pathLst>
              </a:custGeom>
              <a:noFill/>
              <a:ln w="20637">
                <a:solidFill>
                  <a:srgbClr val="B08A3E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270254" y="5438775"/>
              <a:ext cx="59729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Lupa kata sandi? Hubungi petugas perpustakaan untuk mengatur ulang akun Anda.</a:t>
              </a:r>
            </a:p>
          </p:txBody>
        </p:sp>
      </p:grpSp>
      <p:grpSp>
        <p:nvGrpSpPr>
          <p:cNvPr id="49" name="ftr"/>
          <p:cNvGrpSpPr/>
          <p:nvPr/>
        </p:nvGrpSpPr>
        <p:grpSpPr>
          <a:xfrm>
            <a:off x="680847" y="6362700"/>
            <a:ext cx="10830306" cy="324993"/>
            <a:chOff x="680847" y="6362700"/>
            <a:chExt cx="10830306" cy="324993"/>
          </a:xfrm>
        </p:grpSpPr>
        <p:sp>
          <p:nvSpPr>
            <p:cNvPr id="46" name="Line 46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0847" y="6496050"/>
              <a:ext cx="25782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Perpustakaan · Panduan Pengguna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932747" y="6496050"/>
              <a:ext cx="5784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05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"/>
          <p:cNvGrpSpPr/>
          <p:nvPr/>
        </p:nvGrpSpPr>
        <p:grpSpPr>
          <a:xfrm>
            <a:off x="672084" y="698500"/>
            <a:ext cx="10839069" cy="892175"/>
            <a:chOff x="672084" y="698500"/>
            <a:chExt cx="10839069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680085" y="698500"/>
              <a:ext cx="10560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22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BAGIAN 04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965200"/>
              <a:ext cx="402666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2700" b="1" dirty="0">
                  <a:solidFill>
                    <a:srgbClr val="23201B"/>
                  </a:solidFill>
                  <a:latin typeface="+mj-lt"/>
                  <a:ea typeface="+mj-ea"/>
                  <a:cs typeface="+mj-cs"/>
                </a:rPr>
                <a:t>Menelusuri Katalog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954529" y="723900"/>
              <a:ext cx="155662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15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PANDUAN PENGGUNA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5811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</p:grpSp>
      <p:grpSp>
        <p:nvGrpSpPr>
          <p:cNvPr id="14" name="c0"/>
          <p:cNvGrpSpPr/>
          <p:nvPr/>
        </p:nvGrpSpPr>
        <p:grpSpPr>
          <a:xfrm>
            <a:off x="685800" y="1905000"/>
            <a:ext cx="3429000" cy="1905000"/>
            <a:chOff x="685800" y="1905000"/>
            <a:chExt cx="3429000" cy="1905000"/>
          </a:xfrm>
        </p:grpSpPr>
        <p:sp>
          <p:nvSpPr>
            <p:cNvPr id="7" name="Rectangle 7"/>
            <p:cNvSpPr/>
            <p:nvPr/>
          </p:nvSpPr>
          <p:spPr>
            <a:xfrm>
              <a:off x="685800" y="1905000"/>
              <a:ext cx="3429000" cy="190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905000"/>
              <a:ext cx="47625" cy="190500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969169" y="2169319"/>
              <a:ext cx="214313" cy="214313"/>
              <a:chOff x="969169" y="2169319"/>
              <a:chExt cx="214313" cy="21431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69169" y="2169319"/>
                <a:ext cx="166688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66688">
                    <a:moveTo>
                      <a:pt x="0" y="83344"/>
                    </a:moveTo>
                    <a:cubicBezTo>
                      <a:pt x="0" y="129373"/>
                      <a:pt x="37314" y="166688"/>
                      <a:pt x="83344" y="166688"/>
                    </a:cubicBezTo>
                    <a:cubicBezTo>
                      <a:pt x="129373" y="166688"/>
                      <a:pt x="166688" y="129373"/>
                      <a:pt x="166688" y="83344"/>
                    </a:cubicBezTo>
                    <a:cubicBezTo>
                      <a:pt x="166688" y="37314"/>
                      <a:pt x="129373" y="0"/>
                      <a:pt x="83344" y="0"/>
                    </a:cubicBezTo>
                    <a:cubicBezTo>
                      <a:pt x="37314" y="0"/>
                      <a:pt x="0" y="37314"/>
                      <a:pt x="0" y="83344"/>
                    </a:cubicBezTo>
                  </a:path>
                </a:pathLst>
              </a:custGeom>
              <a:noFill/>
              <a:ln w="23812">
                <a:solidFill>
                  <a:srgbClr val="3F5D3A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12044" y="2312194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71438" y="71438"/>
                    </a:moveTo>
                    <a:lnTo>
                      <a:pt x="0" y="0"/>
                    </a:lnTo>
                  </a:path>
                </a:pathLst>
              </a:custGeom>
              <a:noFill/>
              <a:ln w="23812">
                <a:solidFill>
                  <a:srgbClr val="3F5D3A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363599" y="2190750"/>
              <a:ext cx="100136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8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Pencarian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27354" y="2508250"/>
              <a:ext cx="1874398" cy="7109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Ketik judul, penulis, atau</a:t>
              </a:r>
              <a:b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</a:br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ISBN pada kolom pencarian</a:t>
              </a:r>
              <a:b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</a:br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di halaman Katalog.</a:t>
              </a:r>
            </a:p>
          </p:txBody>
        </p:sp>
      </p:grpSp>
      <p:grpSp>
        <p:nvGrpSpPr>
          <p:cNvPr id="20" name="c1"/>
          <p:cNvGrpSpPr/>
          <p:nvPr/>
        </p:nvGrpSpPr>
        <p:grpSpPr>
          <a:xfrm>
            <a:off x="4381500" y="1905000"/>
            <a:ext cx="3429000" cy="1905000"/>
            <a:chOff x="4381500" y="1905000"/>
            <a:chExt cx="3429000" cy="1905000"/>
          </a:xfrm>
        </p:grpSpPr>
        <p:sp>
          <p:nvSpPr>
            <p:cNvPr id="15" name="Rectangle 15"/>
            <p:cNvSpPr/>
            <p:nvPr/>
          </p:nvSpPr>
          <p:spPr>
            <a:xfrm>
              <a:off x="4381500" y="1905000"/>
              <a:ext cx="3429000" cy="190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381500" y="1905000"/>
              <a:ext cx="47625" cy="190500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676775" y="2181225"/>
              <a:ext cx="190500" cy="202406"/>
            </a:xfrm>
            <a:custGeom>
              <a:avLst/>
              <a:gdLst/>
              <a:ahLst/>
              <a:cxnLst/>
              <a:rect l="l" t="t" r="r" b="b"/>
              <a:pathLst>
                <a:path w="190500" h="202406">
                  <a:moveTo>
                    <a:pt x="0" y="0"/>
                  </a:moveTo>
                  <a:lnTo>
                    <a:pt x="190500" y="0"/>
                  </a:lnTo>
                  <a:lnTo>
                    <a:pt x="190500" y="25860"/>
                  </a:lnTo>
                  <a:cubicBezTo>
                    <a:pt x="190499" y="32175"/>
                    <a:pt x="187989" y="38231"/>
                    <a:pt x="183523" y="42696"/>
                  </a:cubicBezTo>
                  <a:lnTo>
                    <a:pt x="130969" y="95250"/>
                  </a:lnTo>
                  <a:lnTo>
                    <a:pt x="130969" y="178594"/>
                  </a:lnTo>
                  <a:lnTo>
                    <a:pt x="59531" y="202406"/>
                  </a:lnTo>
                  <a:lnTo>
                    <a:pt x="59531" y="101203"/>
                  </a:lnTo>
                  <a:lnTo>
                    <a:pt x="6191" y="42529"/>
                  </a:lnTo>
                  <a:cubicBezTo>
                    <a:pt x="2208" y="38147"/>
                    <a:pt x="1" y="32437"/>
                    <a:pt x="0" y="26515"/>
                  </a:cubicBezTo>
                  <a:lnTo>
                    <a:pt x="0" y="0"/>
                  </a:lnTo>
                </a:path>
              </a:pathLst>
            </a:custGeom>
            <a:noFill/>
            <a:ln w="23812">
              <a:solidFill>
                <a:srgbClr val="3F5D3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059299" y="2190750"/>
              <a:ext cx="157432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8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Indeks kategori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23054" y="2508250"/>
              <a:ext cx="2513548" cy="7109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Pilih kategori pada indeks</a:t>
              </a:r>
              <a:b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</a:br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untuk mempersempit hasil.</a:t>
              </a:r>
              <a:b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</a:br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Pilih Semua untuk melihat semuanya.</a:t>
              </a:r>
            </a:p>
          </p:txBody>
        </p:sp>
      </p:grpSp>
      <p:grpSp>
        <p:nvGrpSpPr>
          <p:cNvPr id="32" name="c2"/>
          <p:cNvGrpSpPr/>
          <p:nvPr/>
        </p:nvGrpSpPr>
        <p:grpSpPr>
          <a:xfrm>
            <a:off x="8077200" y="1905000"/>
            <a:ext cx="3429000" cy="1905000"/>
            <a:chOff x="8077200" y="1905000"/>
            <a:chExt cx="3429000" cy="1905000"/>
          </a:xfrm>
        </p:grpSpPr>
        <p:sp>
          <p:nvSpPr>
            <p:cNvPr id="21" name="Rectangle 21"/>
            <p:cNvSpPr/>
            <p:nvPr/>
          </p:nvSpPr>
          <p:spPr>
            <a:xfrm>
              <a:off x="8077200" y="1905000"/>
              <a:ext cx="3429000" cy="190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8077200" y="1905000"/>
              <a:ext cx="47625" cy="190500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8384381" y="2205038"/>
              <a:ext cx="178594" cy="152399"/>
              <a:chOff x="8384381" y="2205038"/>
              <a:chExt cx="178594" cy="152399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432006" y="2205038"/>
                <a:ext cx="1309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9525">
                    <a:moveTo>
                      <a:pt x="0" y="0"/>
                    </a:moveTo>
                    <a:lnTo>
                      <a:pt x="130969" y="0"/>
                    </a:lnTo>
                  </a:path>
                </a:pathLst>
              </a:custGeom>
              <a:noFill/>
              <a:ln w="23812">
                <a:solidFill>
                  <a:srgbClr val="3F5D3A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432006" y="2276475"/>
                <a:ext cx="1309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9525">
                    <a:moveTo>
                      <a:pt x="0" y="0"/>
                    </a:moveTo>
                    <a:lnTo>
                      <a:pt x="130969" y="0"/>
                    </a:lnTo>
                  </a:path>
                </a:pathLst>
              </a:custGeom>
              <a:noFill/>
              <a:ln w="23812">
                <a:solidFill>
                  <a:srgbClr val="3F5D3A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432006" y="2347912"/>
                <a:ext cx="1309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9525">
                    <a:moveTo>
                      <a:pt x="0" y="0"/>
                    </a:moveTo>
                    <a:lnTo>
                      <a:pt x="130969" y="0"/>
                    </a:lnTo>
                  </a:path>
                </a:pathLst>
              </a:custGeom>
              <a:noFill/>
              <a:ln w="23812">
                <a:solidFill>
                  <a:srgbClr val="3F5D3A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384381" y="22050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9"/>
                    </a:lnTo>
                  </a:path>
                </a:pathLst>
              </a:custGeom>
              <a:noFill/>
              <a:ln w="23812">
                <a:solidFill>
                  <a:srgbClr val="3F5D3A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84381" y="22764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9"/>
                    </a:lnTo>
                  </a:path>
                </a:pathLst>
              </a:custGeom>
              <a:noFill/>
              <a:ln w="23812">
                <a:solidFill>
                  <a:srgbClr val="3F5D3A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384381" y="2347912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9"/>
                    </a:lnTo>
                  </a:path>
                </a:pathLst>
              </a:custGeom>
              <a:noFill/>
              <a:ln w="23812">
                <a:solidFill>
                  <a:srgbClr val="3F5D3A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8754999" y="2190750"/>
              <a:ext cx="1349893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8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Urutkan hasil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18754" y="2508250"/>
              <a:ext cx="1824213" cy="7109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Urutkan berdasarkan judul,</a:t>
              </a:r>
              <a:b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</a:br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penulis, atau tahun terbit</a:t>
              </a:r>
              <a:b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</a:br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sesuai kebutuhan.</a:t>
              </a:r>
            </a:p>
          </p:txBody>
        </p:sp>
      </p:grpSp>
      <p:grpSp>
        <p:nvGrpSpPr>
          <p:cNvPr id="48" name="d1"/>
          <p:cNvGrpSpPr/>
          <p:nvPr/>
        </p:nvGrpSpPr>
        <p:grpSpPr>
          <a:xfrm>
            <a:off x="685800" y="4191000"/>
            <a:ext cx="5257800" cy="1905000"/>
            <a:chOff x="685800" y="4191000"/>
            <a:chExt cx="5257800" cy="1905000"/>
          </a:xfrm>
        </p:grpSpPr>
        <p:sp>
          <p:nvSpPr>
            <p:cNvPr id="33" name="Rectangle 33"/>
            <p:cNvSpPr/>
            <p:nvPr/>
          </p:nvSpPr>
          <p:spPr>
            <a:xfrm>
              <a:off x="685800" y="4191000"/>
              <a:ext cx="5257800" cy="190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85800" y="4191000"/>
              <a:ext cx="5257800" cy="4762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989013" y="4510088"/>
              <a:ext cx="155575" cy="200026"/>
              <a:chOff x="989013" y="4510088"/>
              <a:chExt cx="155575" cy="20002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1089025" y="4510088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3"/>
                      <a:pt x="11113" y="55563"/>
                    </a:cubicBezTo>
                    <a:lnTo>
                      <a:pt x="55563" y="55563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989013" y="4510088"/>
                <a:ext cx="155575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6">
                    <a:moveTo>
                      <a:pt x="133350" y="200026"/>
                    </a:move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3" y="0"/>
                    </a:lnTo>
                    <a:lnTo>
                      <a:pt x="155575" y="55563"/>
                    </a:lnTo>
                    <a:lnTo>
                      <a:pt x="155575" y="177801"/>
                    </a:lnTo>
                    <a:cubicBezTo>
                      <a:pt x="155575" y="190075"/>
                      <a:pt x="145625" y="200026"/>
                      <a:pt x="133350" y="200026"/>
                    </a:cubicBez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033463" y="4576763"/>
                <a:ext cx="111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9525">
                    <a:moveTo>
                      <a:pt x="0" y="0"/>
                    </a:moveTo>
                    <a:lnTo>
                      <a:pt x="11113" y="0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033463" y="4621213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33463" y="4665663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306449" y="4495800"/>
              <a:ext cx="1553182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8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Hasil pencarian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33450" y="50958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117854" y="5010150"/>
              <a:ext cx="2426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Kartu menampilkan judul, penulis,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33450" y="53625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117854" y="5276850"/>
              <a:ext cx="22720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kategori, dan ketersediaan stok.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33450" y="56292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17854" y="5543550"/>
              <a:ext cx="2361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Klik kartu untuk membuka detail.</a:t>
              </a:r>
            </a:p>
          </p:txBody>
        </p:sp>
      </p:grpSp>
      <p:grpSp>
        <p:nvGrpSpPr>
          <p:cNvPr id="61" name="d2"/>
          <p:cNvGrpSpPr/>
          <p:nvPr/>
        </p:nvGrpSpPr>
        <p:grpSpPr>
          <a:xfrm>
            <a:off x="6248400" y="4191000"/>
            <a:ext cx="5257800" cy="1905000"/>
            <a:chOff x="6248400" y="4191000"/>
            <a:chExt cx="5257800" cy="1905000"/>
          </a:xfrm>
        </p:grpSpPr>
        <p:sp>
          <p:nvSpPr>
            <p:cNvPr id="49" name="Rectangle 49"/>
            <p:cNvSpPr/>
            <p:nvPr/>
          </p:nvSpPr>
          <p:spPr>
            <a:xfrm>
              <a:off x="6248400" y="4191000"/>
              <a:ext cx="5257800" cy="190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48400" y="4191000"/>
              <a:ext cx="5257800" cy="4762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529388" y="4510088"/>
              <a:ext cx="200026" cy="200026"/>
              <a:chOff x="6529388" y="4510088"/>
              <a:chExt cx="200026" cy="200026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529388" y="45100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596063" y="458787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869049" y="4495800"/>
              <a:ext cx="197717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8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Status ketersediaan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96050" y="50958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80454" y="5010150"/>
              <a:ext cx="1675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Tersedia: siap dipinjam.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496050" y="53625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80454" y="5276850"/>
              <a:ext cx="16235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Habis: ajukan reservasi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496050" y="56292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80454" y="5543550"/>
              <a:ext cx="1549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untuk masuk antrean.</a:t>
              </a:r>
            </a:p>
          </p:txBody>
        </p:sp>
      </p:grpSp>
      <p:grpSp>
        <p:nvGrpSpPr>
          <p:cNvPr id="65" name="ftr"/>
          <p:cNvGrpSpPr/>
          <p:nvPr/>
        </p:nvGrpSpPr>
        <p:grpSpPr>
          <a:xfrm>
            <a:off x="680847" y="6362700"/>
            <a:ext cx="10830306" cy="324993"/>
            <a:chOff x="680847" y="6362700"/>
            <a:chExt cx="10830306" cy="324993"/>
          </a:xfrm>
        </p:grpSpPr>
        <p:sp>
          <p:nvSpPr>
            <p:cNvPr id="62" name="Line 62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80847" y="6496050"/>
              <a:ext cx="25782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Perpustakaan · Panduan Pengguna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932747" y="6496050"/>
              <a:ext cx="5784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06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"/>
          <p:cNvGrpSpPr/>
          <p:nvPr/>
        </p:nvGrpSpPr>
        <p:grpSpPr>
          <a:xfrm>
            <a:off x="672084" y="698500"/>
            <a:ext cx="10839069" cy="892175"/>
            <a:chOff x="672084" y="698500"/>
            <a:chExt cx="10839069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680085" y="698500"/>
              <a:ext cx="10560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22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BAGIAN 05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965200"/>
              <a:ext cx="606797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2700" b="1" dirty="0">
                  <a:solidFill>
                    <a:srgbClr val="23201B"/>
                  </a:solidFill>
                  <a:latin typeface="+mj-lt"/>
                  <a:ea typeface="+mj-ea"/>
                  <a:cs typeface="+mj-cs"/>
                </a:rPr>
                <a:t>Detail Buku &amp; Nomor Panggil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954529" y="723900"/>
              <a:ext cx="155662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15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PANDUAN PENGGUNA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5811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</p:grpSp>
      <p:grpSp>
        <p:nvGrpSpPr>
          <p:cNvPr id="26" name="c1"/>
          <p:cNvGrpSpPr/>
          <p:nvPr/>
        </p:nvGrpSpPr>
        <p:grpSpPr>
          <a:xfrm>
            <a:off x="685800" y="1905000"/>
            <a:ext cx="5257800" cy="2857500"/>
            <a:chOff x="685800" y="1905000"/>
            <a:chExt cx="5257800" cy="2857500"/>
          </a:xfrm>
        </p:grpSpPr>
        <p:sp>
          <p:nvSpPr>
            <p:cNvPr id="7" name="Rectangle 7"/>
            <p:cNvSpPr/>
            <p:nvPr/>
          </p:nvSpPr>
          <p:spPr>
            <a:xfrm>
              <a:off x="685800" y="1905000"/>
              <a:ext cx="5257800" cy="2857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905000"/>
              <a:ext cx="5257800" cy="4762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966788" y="2239560"/>
              <a:ext cx="209550" cy="162329"/>
              <a:chOff x="966788" y="2239560"/>
              <a:chExt cx="209550" cy="162329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66788" y="2384023"/>
                <a:ext cx="200026" cy="1786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7866">
                    <a:moveTo>
                      <a:pt x="0" y="17866"/>
                    </a:moveTo>
                    <a:cubicBezTo>
                      <a:pt x="30944" y="0"/>
                      <a:pt x="69069" y="0"/>
                      <a:pt x="100013" y="17866"/>
                    </a:cubicBezTo>
                    <a:cubicBezTo>
                      <a:pt x="130957" y="0"/>
                      <a:pt x="169082" y="0"/>
                      <a:pt x="200026" y="17866"/>
                    </a:cubicBez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66788" y="2239560"/>
                <a:ext cx="200026" cy="1786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7866">
                    <a:moveTo>
                      <a:pt x="0" y="17866"/>
                    </a:moveTo>
                    <a:cubicBezTo>
                      <a:pt x="30944" y="0"/>
                      <a:pt x="69069" y="0"/>
                      <a:pt x="100013" y="17866"/>
                    </a:cubicBezTo>
                    <a:cubicBezTo>
                      <a:pt x="130957" y="0"/>
                      <a:pt x="169082" y="0"/>
                      <a:pt x="200026" y="17866"/>
                    </a:cubicBez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66788" y="2257425"/>
                <a:ext cx="9525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4463">
                    <a:moveTo>
                      <a:pt x="0" y="0"/>
                    </a:moveTo>
                    <a:lnTo>
                      <a:pt x="0" y="144463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66800" y="2257425"/>
                <a:ext cx="9525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4463">
                    <a:moveTo>
                      <a:pt x="0" y="0"/>
                    </a:moveTo>
                    <a:lnTo>
                      <a:pt x="0" y="144463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166813" y="2257425"/>
                <a:ext cx="9525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4463">
                    <a:moveTo>
                      <a:pt x="0" y="0"/>
                    </a:moveTo>
                    <a:lnTo>
                      <a:pt x="0" y="144463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306449" y="2209800"/>
              <a:ext cx="3010733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8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Informasi pada halaman buku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33450" y="28098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17854" y="2724150"/>
              <a:ext cx="12931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Judul dan penulis.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33450" y="30765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17854" y="2990850"/>
              <a:ext cx="18490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Kategori dan tahun terbit.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33450" y="33432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17854" y="3257550"/>
              <a:ext cx="8138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ISBN buku.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33450" y="36099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117854" y="3524250"/>
              <a:ext cx="11392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Nomor panggil.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33450" y="38766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17854" y="3790950"/>
              <a:ext cx="15044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Jumlah stok tersedia.</a:t>
              </a:r>
            </a:p>
          </p:txBody>
        </p:sp>
      </p:grpSp>
      <p:grpSp>
        <p:nvGrpSpPr>
          <p:cNvPr id="39" name="c2"/>
          <p:cNvGrpSpPr/>
          <p:nvPr/>
        </p:nvGrpSpPr>
        <p:grpSpPr>
          <a:xfrm>
            <a:off x="6248400" y="1905000"/>
            <a:ext cx="5257800" cy="2857500"/>
            <a:chOff x="6248400" y="1905000"/>
            <a:chExt cx="5257800" cy="2857500"/>
          </a:xfrm>
        </p:grpSpPr>
        <p:sp>
          <p:nvSpPr>
            <p:cNvPr id="27" name="Rectangle 27"/>
            <p:cNvSpPr/>
            <p:nvPr/>
          </p:nvSpPr>
          <p:spPr>
            <a:xfrm>
              <a:off x="6248400" y="1905000"/>
              <a:ext cx="5257800" cy="2857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48400" y="1905000"/>
              <a:ext cx="5257800" cy="4762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6562725" y="2224088"/>
              <a:ext cx="133350" cy="200026"/>
            </a:xfrm>
            <a:custGeom>
              <a:avLst/>
              <a:gdLst/>
              <a:ahLst/>
              <a:cxnLst/>
              <a:rect l="l" t="t" r="r" b="b"/>
              <a:pathLst>
                <a:path w="133350" h="200026">
                  <a:moveTo>
                    <a:pt x="133350" y="44450"/>
                  </a:moveTo>
                  <a:lnTo>
                    <a:pt x="133350" y="200026"/>
                  </a:lnTo>
                  <a:lnTo>
                    <a:pt x="66675" y="155575"/>
                  </a:lnTo>
                  <a:lnTo>
                    <a:pt x="0" y="200026"/>
                  </a:lnTo>
                  <a:lnTo>
                    <a:pt x="0" y="44450"/>
                  </a:lnTo>
                  <a:cubicBezTo>
                    <a:pt x="0" y="19901"/>
                    <a:pt x="19901" y="0"/>
                    <a:pt x="44450" y="0"/>
                  </a:cubicBezTo>
                  <a:lnTo>
                    <a:pt x="88900" y="0"/>
                  </a:lnTo>
                  <a:cubicBezTo>
                    <a:pt x="113449" y="0"/>
                    <a:pt x="133350" y="19901"/>
                    <a:pt x="133350" y="44450"/>
                  </a:cubicBezTo>
                </a:path>
              </a:pathLst>
            </a:custGeom>
            <a:noFill/>
            <a:ln w="22225">
              <a:solidFill>
                <a:srgbClr val="3F5D3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69049" y="2209800"/>
              <a:ext cx="254474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8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Membaca nomor panggil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96050" y="28098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80454" y="2724150"/>
              <a:ext cx="20112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Terdiri dari 3 huruf kategori.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96050" y="30765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80454" y="2990850"/>
              <a:ext cx="14650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Diikuti titik pemisah.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496050" y="33432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80454" y="3257550"/>
              <a:ext cx="27571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Lalu nomor urut buku, contoh FIK.014.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96050" y="36099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80454" y="3524250"/>
              <a:ext cx="23557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Dipakai menemukan buku di rak.</a:t>
              </a:r>
            </a:p>
          </p:txBody>
        </p:sp>
      </p:grpSp>
      <p:grpSp>
        <p:nvGrpSpPr>
          <p:cNvPr id="44" name="n1"/>
          <p:cNvGrpSpPr/>
          <p:nvPr/>
        </p:nvGrpSpPr>
        <p:grpSpPr>
          <a:xfrm>
            <a:off x="685800" y="5143500"/>
            <a:ext cx="10820400" cy="762000"/>
            <a:chOff x="685800" y="5143500"/>
            <a:chExt cx="10820400" cy="762000"/>
          </a:xfrm>
        </p:grpSpPr>
        <p:sp>
          <p:nvSpPr>
            <p:cNvPr id="40" name="Rectangle 40"/>
            <p:cNvSpPr/>
            <p:nvPr/>
          </p:nvSpPr>
          <p:spPr>
            <a:xfrm>
              <a:off x="685800" y="5143500"/>
              <a:ext cx="10820400" cy="762000"/>
            </a:xfrm>
            <a:prstGeom prst="rect">
              <a:avLst/>
            </a:prstGeom>
            <a:solidFill>
              <a:srgbClr val="EFEADD"/>
            </a:solidFill>
            <a:ln w="9525">
              <a:solidFill>
                <a:srgbClr val="D9D2C2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85800" y="5143500"/>
              <a:ext cx="47625" cy="76200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976312" y="5431631"/>
              <a:ext cx="123825" cy="185737"/>
            </a:xfrm>
            <a:custGeom>
              <a:avLst/>
              <a:gdLst/>
              <a:ahLst/>
              <a:cxnLst/>
              <a:rect l="l" t="t" r="r" b="b"/>
              <a:pathLst>
                <a:path w="123825" h="185737">
                  <a:moveTo>
                    <a:pt x="123825" y="41275"/>
                  </a:moveTo>
                  <a:lnTo>
                    <a:pt x="123825" y="185737"/>
                  </a:lnTo>
                  <a:lnTo>
                    <a:pt x="61912" y="144462"/>
                  </a:lnTo>
                  <a:lnTo>
                    <a:pt x="0" y="185737"/>
                  </a:lnTo>
                  <a:lnTo>
                    <a:pt x="0" y="41275"/>
                  </a:lnTo>
                  <a:cubicBezTo>
                    <a:pt x="0" y="18479"/>
                    <a:pt x="18479" y="0"/>
                    <a:pt x="41275" y="0"/>
                  </a:cubicBezTo>
                  <a:lnTo>
                    <a:pt x="82550" y="0"/>
                  </a:lnTo>
                  <a:cubicBezTo>
                    <a:pt x="105345" y="0"/>
                    <a:pt x="123825" y="18479"/>
                    <a:pt x="123825" y="41275"/>
                  </a:cubicBezTo>
                </a:path>
              </a:pathLst>
            </a:custGeom>
            <a:noFill/>
            <a:ln w="20637">
              <a:solidFill>
                <a:srgbClr val="3F5D3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270254" y="5438775"/>
              <a:ext cx="68543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Nomor panggil tampil pada halaman detail buku dan membantu Anda menemukan buku di rak.</a:t>
              </a:r>
            </a:p>
          </p:txBody>
        </p:sp>
      </p:grpSp>
      <p:grpSp>
        <p:nvGrpSpPr>
          <p:cNvPr id="48" name="ftr"/>
          <p:cNvGrpSpPr/>
          <p:nvPr/>
        </p:nvGrpSpPr>
        <p:grpSpPr>
          <a:xfrm>
            <a:off x="680847" y="6362700"/>
            <a:ext cx="10830306" cy="324993"/>
            <a:chOff x="680847" y="6362700"/>
            <a:chExt cx="10830306" cy="324993"/>
          </a:xfrm>
        </p:grpSpPr>
        <p:sp>
          <p:nvSpPr>
            <p:cNvPr id="45" name="Line 45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0847" y="6496050"/>
              <a:ext cx="25782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Perpustakaan · Panduan Pengguna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932747" y="6496050"/>
              <a:ext cx="5784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07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"/>
          <p:cNvGrpSpPr/>
          <p:nvPr/>
        </p:nvGrpSpPr>
        <p:grpSpPr>
          <a:xfrm>
            <a:off x="672084" y="698500"/>
            <a:ext cx="10839069" cy="892175"/>
            <a:chOff x="672084" y="698500"/>
            <a:chExt cx="10839069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680085" y="698500"/>
              <a:ext cx="10560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22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BAGIAN 06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965200"/>
              <a:ext cx="460420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2700" b="1" dirty="0">
                  <a:solidFill>
                    <a:srgbClr val="23201B"/>
                  </a:solidFill>
                  <a:latin typeface="+mj-lt"/>
                  <a:ea typeface="+mj-ea"/>
                  <a:cs typeface="+mj-cs"/>
                </a:rPr>
                <a:t>Mengajukan Reservasi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954529" y="723900"/>
              <a:ext cx="155662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15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PANDUAN PENGGUNA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5811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</p:grpSp>
      <p:grpSp>
        <p:nvGrpSpPr>
          <p:cNvPr id="12" name="st0"/>
          <p:cNvGrpSpPr/>
          <p:nvPr/>
        </p:nvGrpSpPr>
        <p:grpSpPr>
          <a:xfrm>
            <a:off x="685800" y="1809750"/>
            <a:ext cx="10820400" cy="819150"/>
            <a:chOff x="685800" y="1809750"/>
            <a:chExt cx="10820400" cy="819150"/>
          </a:xfrm>
        </p:grpSpPr>
        <p:sp>
          <p:nvSpPr>
            <p:cNvPr id="7" name="Rectangle 7"/>
            <p:cNvSpPr/>
            <p:nvPr/>
          </p:nvSpPr>
          <p:spPr>
            <a:xfrm>
              <a:off x="685800" y="1809750"/>
              <a:ext cx="108204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33450" y="2000250"/>
              <a:ext cx="438150" cy="4381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86666" y="2092325"/>
              <a:ext cx="1317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73530" y="1971675"/>
              <a:ext cx="9771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0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Pilih buku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75054" y="2257425"/>
              <a:ext cx="36363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Buka halaman detail buku yang ingin Anda pinjam.</a:t>
              </a:r>
            </a:p>
          </p:txBody>
        </p:sp>
      </p:grpSp>
      <p:grpSp>
        <p:nvGrpSpPr>
          <p:cNvPr id="18" name="st1"/>
          <p:cNvGrpSpPr/>
          <p:nvPr/>
        </p:nvGrpSpPr>
        <p:grpSpPr>
          <a:xfrm>
            <a:off x="685800" y="2743200"/>
            <a:ext cx="10820400" cy="819150"/>
            <a:chOff x="685800" y="2743200"/>
            <a:chExt cx="10820400" cy="819150"/>
          </a:xfrm>
        </p:grpSpPr>
        <p:sp>
          <p:nvSpPr>
            <p:cNvPr id="13" name="Rectangle 13"/>
            <p:cNvSpPr/>
            <p:nvPr/>
          </p:nvSpPr>
          <p:spPr>
            <a:xfrm>
              <a:off x="685800" y="2743200"/>
              <a:ext cx="108204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933450" y="2933700"/>
              <a:ext cx="438150" cy="4381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70624" y="3025775"/>
              <a:ext cx="1638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73530" y="2905125"/>
              <a:ext cx="21793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0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Klik Reservasi Buku Ini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75054" y="3190875"/>
              <a:ext cx="31005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Tombol tersedia pada halaman detail buku.</a:t>
              </a:r>
            </a:p>
          </p:txBody>
        </p:sp>
      </p:grpSp>
      <p:grpSp>
        <p:nvGrpSpPr>
          <p:cNvPr id="24" name="st2"/>
          <p:cNvGrpSpPr/>
          <p:nvPr/>
        </p:nvGrpSpPr>
        <p:grpSpPr>
          <a:xfrm>
            <a:off x="685800" y="3676650"/>
            <a:ext cx="10820400" cy="819150"/>
            <a:chOff x="685800" y="3676650"/>
            <a:chExt cx="10820400" cy="819150"/>
          </a:xfrm>
        </p:grpSpPr>
        <p:sp>
          <p:nvSpPr>
            <p:cNvPr id="19" name="Rectangle 19"/>
            <p:cNvSpPr/>
            <p:nvPr/>
          </p:nvSpPr>
          <p:spPr>
            <a:xfrm>
              <a:off x="685800" y="3676650"/>
              <a:ext cx="108204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933450" y="3867150"/>
              <a:ext cx="438150" cy="4381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70859" y="3959225"/>
              <a:ext cx="1633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73530" y="3838575"/>
              <a:ext cx="1700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0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Reservasi tercatat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75054" y="4124325"/>
              <a:ext cx="32792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Bila stok habis, Anda masuk antrean reservasi.</a:t>
              </a:r>
            </a:p>
          </p:txBody>
        </p:sp>
      </p:grpSp>
      <p:grpSp>
        <p:nvGrpSpPr>
          <p:cNvPr id="30" name="st3"/>
          <p:cNvGrpSpPr/>
          <p:nvPr/>
        </p:nvGrpSpPr>
        <p:grpSpPr>
          <a:xfrm>
            <a:off x="685800" y="4610100"/>
            <a:ext cx="10820400" cy="819150"/>
            <a:chOff x="685800" y="4610100"/>
            <a:chExt cx="10820400" cy="819150"/>
          </a:xfrm>
        </p:grpSpPr>
        <p:sp>
          <p:nvSpPr>
            <p:cNvPr id="25" name="Rectangle 25"/>
            <p:cNvSpPr/>
            <p:nvPr/>
          </p:nvSpPr>
          <p:spPr>
            <a:xfrm>
              <a:off x="685800" y="4610100"/>
              <a:ext cx="108204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933450" y="4800600"/>
              <a:ext cx="438150" cy="4381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67937" y="4892675"/>
              <a:ext cx="1691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73530" y="4772025"/>
              <a:ext cx="18256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0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Tunggu konfirmasi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75054" y="5057775"/>
              <a:ext cx="32503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Anda menerima email saat buku siap diambil.</a:t>
              </a:r>
            </a:p>
          </p:txBody>
        </p:sp>
      </p:grpSp>
      <p:grpSp>
        <p:nvGrpSpPr>
          <p:cNvPr id="39" name="n1"/>
          <p:cNvGrpSpPr/>
          <p:nvPr/>
        </p:nvGrpSpPr>
        <p:grpSpPr>
          <a:xfrm>
            <a:off x="685800" y="5676900"/>
            <a:ext cx="10820400" cy="495300"/>
            <a:chOff x="685800" y="5676900"/>
            <a:chExt cx="10820400" cy="495300"/>
          </a:xfrm>
        </p:grpSpPr>
        <p:sp>
          <p:nvSpPr>
            <p:cNvPr id="31" name="Rectangle 31"/>
            <p:cNvSpPr/>
            <p:nvPr/>
          </p:nvSpPr>
          <p:spPr>
            <a:xfrm>
              <a:off x="685800" y="5676900"/>
              <a:ext cx="10820400" cy="495300"/>
            </a:xfrm>
            <a:prstGeom prst="rect">
              <a:avLst/>
            </a:prstGeom>
            <a:solidFill>
              <a:srgbClr val="EFEADD"/>
            </a:solidFill>
            <a:ln w="9525">
              <a:solidFill>
                <a:srgbClr val="D9D2C2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85800" y="5676900"/>
              <a:ext cx="47625" cy="495300"/>
            </a:xfrm>
            <a:prstGeom prst="rect">
              <a:avLst/>
            </a:prstGeom>
            <a:solidFill>
              <a:srgbClr val="B08A3E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976312" y="5831681"/>
              <a:ext cx="123825" cy="185737"/>
              <a:chOff x="976312" y="5831681"/>
              <a:chExt cx="123825" cy="185737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981472" y="5872956"/>
                <a:ext cx="11350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3506" h="9525">
                    <a:moveTo>
                      <a:pt x="0" y="0"/>
                    </a:moveTo>
                    <a:lnTo>
                      <a:pt x="113506" y="0"/>
                    </a:lnTo>
                  </a:path>
                </a:pathLst>
              </a:custGeom>
              <a:noFill/>
              <a:ln w="20637">
                <a:solidFill>
                  <a:srgbClr val="B08A3E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81472" y="5976143"/>
                <a:ext cx="11350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3506" h="9525">
                    <a:moveTo>
                      <a:pt x="0" y="0"/>
                    </a:moveTo>
                    <a:lnTo>
                      <a:pt x="113506" y="0"/>
                    </a:lnTo>
                  </a:path>
                </a:pathLst>
              </a:custGeom>
              <a:noFill/>
              <a:ln w="20637">
                <a:solidFill>
                  <a:srgbClr val="B08A3E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76312" y="5924550"/>
                <a:ext cx="123825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92868">
                    <a:moveTo>
                      <a:pt x="0" y="82550"/>
                    </a:moveTo>
                    <a:lnTo>
                      <a:pt x="0" y="61912"/>
                    </a:lnTo>
                    <a:cubicBezTo>
                      <a:pt x="0" y="27719"/>
                      <a:pt x="27719" y="0"/>
                      <a:pt x="61912" y="0"/>
                    </a:cubicBezTo>
                    <a:cubicBezTo>
                      <a:pt x="96106" y="0"/>
                      <a:pt x="123825" y="27719"/>
                      <a:pt x="123825" y="61912"/>
                    </a:cubicBezTo>
                    <a:lnTo>
                      <a:pt x="123825" y="82550"/>
                    </a:lnTo>
                    <a:cubicBezTo>
                      <a:pt x="123825" y="88249"/>
                      <a:pt x="119205" y="92868"/>
                      <a:pt x="113506" y="92868"/>
                    </a:cubicBezTo>
                    <a:lnTo>
                      <a:pt x="10319" y="92868"/>
                    </a:lnTo>
                    <a:cubicBezTo>
                      <a:pt x="4620" y="92868"/>
                      <a:pt x="0" y="88249"/>
                      <a:pt x="0" y="82550"/>
                    </a:cubicBezTo>
                  </a:path>
                </a:pathLst>
              </a:custGeom>
              <a:noFill/>
              <a:ln w="20637">
                <a:solidFill>
                  <a:srgbClr val="B08A3E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976312" y="5831681"/>
                <a:ext cx="123825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92868">
                    <a:moveTo>
                      <a:pt x="0" y="10319"/>
                    </a:moveTo>
                    <a:lnTo>
                      <a:pt x="0" y="30956"/>
                    </a:lnTo>
                    <a:cubicBezTo>
                      <a:pt x="0" y="65149"/>
                      <a:pt x="27719" y="92868"/>
                      <a:pt x="61912" y="92868"/>
                    </a:cubicBezTo>
                    <a:cubicBezTo>
                      <a:pt x="96106" y="92868"/>
                      <a:pt x="123825" y="65149"/>
                      <a:pt x="123825" y="30956"/>
                    </a:cubicBezTo>
                    <a:lnTo>
                      <a:pt x="123825" y="10319"/>
                    </a:lnTo>
                    <a:cubicBezTo>
                      <a:pt x="123825" y="4620"/>
                      <a:pt x="119205" y="0"/>
                      <a:pt x="113506" y="0"/>
                    </a:cubicBezTo>
                    <a:lnTo>
                      <a:pt x="10319" y="0"/>
                    </a:lnTo>
                    <a:cubicBezTo>
                      <a:pt x="4620" y="0"/>
                      <a:pt x="0" y="4620"/>
                      <a:pt x="0" y="10319"/>
                    </a:cubicBezTo>
                  </a:path>
                </a:pathLst>
              </a:custGeom>
              <a:noFill/>
              <a:ln w="20637">
                <a:solidFill>
                  <a:srgbClr val="B08A3E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270254" y="5838825"/>
              <a:ext cx="54803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Bila stok habis, reservasi masuk antrean. Buku ditahan 3 hari setelah tersedia.</a:t>
              </a:r>
            </a:p>
          </p:txBody>
        </p:sp>
      </p:grpSp>
      <p:grpSp>
        <p:nvGrpSpPr>
          <p:cNvPr id="43" name="ftr"/>
          <p:cNvGrpSpPr/>
          <p:nvPr/>
        </p:nvGrpSpPr>
        <p:grpSpPr>
          <a:xfrm>
            <a:off x="680847" y="6362700"/>
            <a:ext cx="10830306" cy="324993"/>
            <a:chOff x="680847" y="6362700"/>
            <a:chExt cx="10830306" cy="324993"/>
          </a:xfrm>
        </p:grpSpPr>
        <p:sp>
          <p:nvSpPr>
            <p:cNvPr id="40" name="Line 40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80847" y="6496050"/>
              <a:ext cx="25782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Perpustakaan · Panduan Pengguna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932747" y="6496050"/>
              <a:ext cx="5784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08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"/>
          <p:cNvGrpSpPr/>
          <p:nvPr/>
        </p:nvGrpSpPr>
        <p:grpSpPr>
          <a:xfrm>
            <a:off x="672084" y="698500"/>
            <a:ext cx="10839069" cy="892175"/>
            <a:chOff x="672084" y="698500"/>
            <a:chExt cx="10839069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680085" y="698500"/>
              <a:ext cx="10560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22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BAGIAN 07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965200"/>
              <a:ext cx="601976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2700" b="1" dirty="0">
                  <a:solidFill>
                    <a:srgbClr val="23201B"/>
                  </a:solidFill>
                  <a:latin typeface="+mj-lt"/>
                  <a:ea typeface="+mj-ea"/>
                  <a:cs typeface="+mj-cs"/>
                </a:rPr>
                <a:t>Memantau Reservasi &amp; Email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954529" y="723900"/>
              <a:ext cx="155662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15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PANDUAN PENGGUNA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5811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</p:grpSp>
      <p:grpSp>
        <p:nvGrpSpPr>
          <p:cNvPr id="14" name="r0"/>
          <p:cNvGrpSpPr/>
          <p:nvPr/>
        </p:nvGrpSpPr>
        <p:grpSpPr>
          <a:xfrm>
            <a:off x="685800" y="1905000"/>
            <a:ext cx="5257800" cy="1619250"/>
            <a:chOff x="685800" y="1905000"/>
            <a:chExt cx="5257800" cy="1619250"/>
          </a:xfrm>
        </p:grpSpPr>
        <p:sp>
          <p:nvSpPr>
            <p:cNvPr id="7" name="Rectangle 7"/>
            <p:cNvSpPr/>
            <p:nvPr/>
          </p:nvSpPr>
          <p:spPr>
            <a:xfrm>
              <a:off x="685800" y="1905000"/>
              <a:ext cx="5257800" cy="1619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905000"/>
              <a:ext cx="47625" cy="16192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969169" y="2169319"/>
              <a:ext cx="214312" cy="214312"/>
              <a:chOff x="969169" y="2169319"/>
              <a:chExt cx="214312" cy="214312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69169" y="2169319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0" y="107156"/>
                    </a:moveTo>
                    <a:cubicBezTo>
                      <a:pt x="0" y="166337"/>
                      <a:pt x="47975" y="214312"/>
                      <a:pt x="107156" y="214312"/>
                    </a:cubicBezTo>
                    <a:cubicBezTo>
                      <a:pt x="166337" y="214312"/>
                      <a:pt x="214312" y="166337"/>
                      <a:pt x="214312" y="107156"/>
                    </a:cubicBezTo>
                    <a:cubicBezTo>
                      <a:pt x="214312" y="47975"/>
                      <a:pt x="166337" y="0"/>
                      <a:pt x="107156" y="0"/>
                    </a:cubicBezTo>
                    <a:cubicBezTo>
                      <a:pt x="47975" y="0"/>
                      <a:pt x="0" y="47975"/>
                      <a:pt x="0" y="107156"/>
                    </a:cubicBezTo>
                  </a:path>
                </a:pathLst>
              </a:custGeom>
              <a:noFill/>
              <a:ln w="23812">
                <a:solidFill>
                  <a:srgbClr val="3F5D3A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76325" y="2216944"/>
                <a:ext cx="35719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95250">
                    <a:moveTo>
                      <a:pt x="0" y="0"/>
                    </a:moveTo>
                    <a:lnTo>
                      <a:pt x="0" y="59531"/>
                    </a:lnTo>
                    <a:lnTo>
                      <a:pt x="35719" y="95250"/>
                    </a:lnTo>
                  </a:path>
                </a:pathLst>
              </a:custGeom>
              <a:noFill/>
              <a:ln w="23812">
                <a:solidFill>
                  <a:srgbClr val="3F5D3A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363599" y="2190750"/>
              <a:ext cx="112048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8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Menunggu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27354" y="2508250"/>
              <a:ext cx="2419960" cy="4728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Buku sedang dipinjam anggota lain.</a:t>
              </a:r>
              <a:b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</a:br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Anda berada dalam antrean.</a:t>
              </a:r>
            </a:p>
          </p:txBody>
        </p:sp>
      </p:grpSp>
      <p:grpSp>
        <p:nvGrpSpPr>
          <p:cNvPr id="22" name="r1"/>
          <p:cNvGrpSpPr/>
          <p:nvPr/>
        </p:nvGrpSpPr>
        <p:grpSpPr>
          <a:xfrm>
            <a:off x="6248400" y="1905000"/>
            <a:ext cx="5257800" cy="1619250"/>
            <a:chOff x="6248400" y="1905000"/>
            <a:chExt cx="5257800" cy="1619250"/>
          </a:xfrm>
        </p:grpSpPr>
        <p:sp>
          <p:nvSpPr>
            <p:cNvPr id="15" name="Rectangle 15"/>
            <p:cNvSpPr/>
            <p:nvPr/>
          </p:nvSpPr>
          <p:spPr>
            <a:xfrm>
              <a:off x="6248400" y="1905000"/>
              <a:ext cx="5257800" cy="1619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248400" y="1905000"/>
              <a:ext cx="47625" cy="1619250"/>
            </a:xfrm>
            <a:prstGeom prst="rect">
              <a:avLst/>
            </a:prstGeom>
            <a:solidFill>
              <a:srgbClr val="6B8A63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6531769" y="2169319"/>
              <a:ext cx="214312" cy="214312"/>
              <a:chOff x="6531769" y="2169319"/>
              <a:chExt cx="214312" cy="214312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6531769" y="2169319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0" y="107156"/>
                    </a:moveTo>
                    <a:cubicBezTo>
                      <a:pt x="0" y="166337"/>
                      <a:pt x="47975" y="214312"/>
                      <a:pt x="107156" y="214312"/>
                    </a:cubicBezTo>
                    <a:cubicBezTo>
                      <a:pt x="166337" y="214312"/>
                      <a:pt x="214312" y="166337"/>
                      <a:pt x="214312" y="107156"/>
                    </a:cubicBezTo>
                    <a:cubicBezTo>
                      <a:pt x="214312" y="47975"/>
                      <a:pt x="166337" y="0"/>
                      <a:pt x="107156" y="0"/>
                    </a:cubicBezTo>
                    <a:cubicBezTo>
                      <a:pt x="47975" y="0"/>
                      <a:pt x="0" y="47975"/>
                      <a:pt x="0" y="107156"/>
                    </a:cubicBezTo>
                  </a:path>
                </a:pathLst>
              </a:custGeom>
              <a:noFill/>
              <a:ln w="23812">
                <a:solidFill>
                  <a:srgbClr val="6B8A63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603206" y="2252662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rgbClr val="6B8A63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6926199" y="2190750"/>
              <a:ext cx="129306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8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Siap Diambil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89954" y="2508250"/>
              <a:ext cx="2658740" cy="4728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Buku siap diambil.</a:t>
              </a:r>
              <a:b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</a:br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Ambil sebelum batas penahanan 3 hari.</a:t>
              </a:r>
            </a:p>
          </p:txBody>
        </p:sp>
      </p:grpSp>
      <p:grpSp>
        <p:nvGrpSpPr>
          <p:cNvPr id="28" name="r2"/>
          <p:cNvGrpSpPr/>
          <p:nvPr/>
        </p:nvGrpSpPr>
        <p:grpSpPr>
          <a:xfrm>
            <a:off x="685800" y="3810000"/>
            <a:ext cx="5257800" cy="1619250"/>
            <a:chOff x="685800" y="3810000"/>
            <a:chExt cx="5257800" cy="1619250"/>
          </a:xfrm>
        </p:grpSpPr>
        <p:sp>
          <p:nvSpPr>
            <p:cNvPr id="23" name="Rectangle 23"/>
            <p:cNvSpPr/>
            <p:nvPr/>
          </p:nvSpPr>
          <p:spPr>
            <a:xfrm>
              <a:off x="685800" y="3810000"/>
              <a:ext cx="5257800" cy="1619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85800" y="3810000"/>
              <a:ext cx="47625" cy="16192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992981" y="4121944"/>
              <a:ext cx="178594" cy="119062"/>
            </a:xfrm>
            <a:custGeom>
              <a:avLst/>
              <a:gdLst/>
              <a:ahLst/>
              <a:cxnLst/>
              <a:rect l="l" t="t" r="r" b="b"/>
              <a:pathLst>
                <a:path w="178594" h="119062">
                  <a:moveTo>
                    <a:pt x="0" y="59531"/>
                  </a:moveTo>
                  <a:lnTo>
                    <a:pt x="59531" y="119062"/>
                  </a:lnTo>
                  <a:lnTo>
                    <a:pt x="178594" y="0"/>
                  </a:lnTo>
                </a:path>
              </a:pathLst>
            </a:custGeom>
            <a:noFill/>
            <a:ln w="23812">
              <a:solidFill>
                <a:srgbClr val="3F5D3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363599" y="4095750"/>
              <a:ext cx="148989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8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Sudah Diambil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27354" y="4413250"/>
              <a:ext cx="1833342" cy="4728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Buku sudah Anda pinjam.</a:t>
              </a:r>
              <a:b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</a:br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Reservasi ditutup otomatis.</a:t>
              </a:r>
            </a:p>
          </p:txBody>
        </p:sp>
      </p:grpSp>
      <p:grpSp>
        <p:nvGrpSpPr>
          <p:cNvPr id="36" name="r3"/>
          <p:cNvGrpSpPr/>
          <p:nvPr/>
        </p:nvGrpSpPr>
        <p:grpSpPr>
          <a:xfrm>
            <a:off x="6248400" y="3810000"/>
            <a:ext cx="5257800" cy="1619250"/>
            <a:chOff x="6248400" y="3810000"/>
            <a:chExt cx="5257800" cy="1619250"/>
          </a:xfrm>
        </p:grpSpPr>
        <p:sp>
          <p:nvSpPr>
            <p:cNvPr id="29" name="Rectangle 29"/>
            <p:cNvSpPr/>
            <p:nvPr/>
          </p:nvSpPr>
          <p:spPr>
            <a:xfrm>
              <a:off x="6248400" y="3810000"/>
              <a:ext cx="5257800" cy="1619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48400" y="3810000"/>
              <a:ext cx="47625" cy="1619250"/>
            </a:xfrm>
            <a:prstGeom prst="rect">
              <a:avLst/>
            </a:prstGeom>
            <a:solidFill>
              <a:srgbClr val="9E4B2E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567488" y="4110038"/>
              <a:ext cx="142875" cy="142875"/>
              <a:chOff x="6567488" y="4110038"/>
              <a:chExt cx="142875" cy="14287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567488" y="4110038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142875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23812">
                <a:solidFill>
                  <a:srgbClr val="9E4B2E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567488" y="4110038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0"/>
                    </a:moveTo>
                    <a:lnTo>
                      <a:pt x="142875" y="142875"/>
                    </a:lnTo>
                  </a:path>
                </a:pathLst>
              </a:custGeom>
              <a:noFill/>
              <a:ln w="23812">
                <a:solidFill>
                  <a:srgbClr val="9E4B2E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6926199" y="4095750"/>
              <a:ext cx="11054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8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Dibatalkan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89954" y="4413250"/>
              <a:ext cx="2547915" cy="4728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Dibatalkan petugas atau kedaluwarsa.</a:t>
              </a:r>
              <a:b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</a:br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Anda bisa mengajukan lagi.</a:t>
              </a:r>
            </a:p>
          </p:txBody>
        </p:sp>
      </p:grpSp>
      <p:grpSp>
        <p:nvGrpSpPr>
          <p:cNvPr id="43" name="n1"/>
          <p:cNvGrpSpPr/>
          <p:nvPr/>
        </p:nvGrpSpPr>
        <p:grpSpPr>
          <a:xfrm>
            <a:off x="685800" y="5676900"/>
            <a:ext cx="10820400" cy="495300"/>
            <a:chOff x="685800" y="5676900"/>
            <a:chExt cx="10820400" cy="495300"/>
          </a:xfrm>
        </p:grpSpPr>
        <p:sp>
          <p:nvSpPr>
            <p:cNvPr id="37" name="Rectangle 37"/>
            <p:cNvSpPr/>
            <p:nvPr/>
          </p:nvSpPr>
          <p:spPr>
            <a:xfrm>
              <a:off x="685800" y="5676900"/>
              <a:ext cx="10820400" cy="495300"/>
            </a:xfrm>
            <a:prstGeom prst="rect">
              <a:avLst/>
            </a:prstGeom>
            <a:solidFill>
              <a:srgbClr val="EFEADD"/>
            </a:solidFill>
            <a:ln w="9525">
              <a:solidFill>
                <a:srgbClr val="D9D2C2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85800" y="5676900"/>
              <a:ext cx="47625" cy="49530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945356" y="5852319"/>
              <a:ext cx="185737" cy="144462"/>
              <a:chOff x="945356" y="5852319"/>
              <a:chExt cx="185737" cy="144462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945356" y="5852319"/>
                <a:ext cx="185737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44462">
                    <a:moveTo>
                      <a:pt x="0" y="20637"/>
                    </a:moveTo>
                    <a:cubicBezTo>
                      <a:pt x="0" y="9240"/>
                      <a:pt x="9240" y="0"/>
                      <a:pt x="20637" y="0"/>
                    </a:cubicBezTo>
                    <a:lnTo>
                      <a:pt x="165099" y="0"/>
                    </a:lnTo>
                    <a:cubicBezTo>
                      <a:pt x="176497" y="0"/>
                      <a:pt x="185737" y="9240"/>
                      <a:pt x="185737" y="20637"/>
                    </a:cubicBezTo>
                    <a:lnTo>
                      <a:pt x="185737" y="123825"/>
                    </a:lnTo>
                    <a:cubicBezTo>
                      <a:pt x="185737" y="135222"/>
                      <a:pt x="176497" y="144462"/>
                      <a:pt x="165099" y="144462"/>
                    </a:cubicBezTo>
                    <a:lnTo>
                      <a:pt x="20637" y="144462"/>
                    </a:lnTo>
                    <a:cubicBezTo>
                      <a:pt x="9240" y="144462"/>
                      <a:pt x="0" y="135222"/>
                      <a:pt x="0" y="123825"/>
                    </a:cubicBezTo>
                    <a:lnTo>
                      <a:pt x="0" y="20637"/>
                    </a:lnTo>
                  </a:path>
                </a:pathLst>
              </a:custGeom>
              <a:noFill/>
              <a:ln w="20637">
                <a:solidFill>
                  <a:srgbClr val="3F5D3A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945356" y="5872956"/>
                <a:ext cx="185737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61912">
                    <a:moveTo>
                      <a:pt x="0" y="0"/>
                    </a:moveTo>
                    <a:lnTo>
                      <a:pt x="92868" y="61912"/>
                    </a:lnTo>
                    <a:lnTo>
                      <a:pt x="185737" y="0"/>
                    </a:lnTo>
                  </a:path>
                </a:pathLst>
              </a:custGeom>
              <a:noFill/>
              <a:ln w="20637">
                <a:solidFill>
                  <a:srgbClr val="3F5D3A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270254" y="5838825"/>
              <a:ext cx="52874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Email pemberitahuan dikirim otomatis setiap kali status reservasi berubah.</a:t>
              </a:r>
            </a:p>
          </p:txBody>
        </p:sp>
      </p:grpSp>
      <p:grpSp>
        <p:nvGrpSpPr>
          <p:cNvPr id="47" name="ftr"/>
          <p:cNvGrpSpPr/>
          <p:nvPr/>
        </p:nvGrpSpPr>
        <p:grpSpPr>
          <a:xfrm>
            <a:off x="680847" y="6362700"/>
            <a:ext cx="10830306" cy="324993"/>
            <a:chOff x="680847" y="6362700"/>
            <a:chExt cx="10830306" cy="324993"/>
          </a:xfrm>
        </p:grpSpPr>
        <p:sp>
          <p:nvSpPr>
            <p:cNvPr id="44" name="Line 44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0847" y="6496050"/>
              <a:ext cx="25782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Perpustakaan · Panduan Pengguna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932747" y="6496050"/>
              <a:ext cx="5784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09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"/>
          <p:cNvGrpSpPr/>
          <p:nvPr/>
        </p:nvGrpSpPr>
        <p:grpSpPr>
          <a:xfrm>
            <a:off x="672084" y="698500"/>
            <a:ext cx="10839069" cy="892175"/>
            <a:chOff x="672084" y="698500"/>
            <a:chExt cx="10839069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680085" y="698500"/>
              <a:ext cx="10560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22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BAGIAN 08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965200"/>
              <a:ext cx="36812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2700" b="1" dirty="0">
                  <a:solidFill>
                    <a:srgbClr val="23201B"/>
                  </a:solidFill>
                  <a:latin typeface="+mj-lt"/>
                  <a:ea typeface="+mj-ea"/>
                  <a:cs typeface="+mj-cs"/>
                </a:rPr>
                <a:t>Peminjaman Saya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954529" y="723900"/>
              <a:ext cx="155662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15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PANDUAN PENGGUNA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5811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</p:grpSp>
      <p:grpSp>
        <p:nvGrpSpPr>
          <p:cNvPr id="23" name="c1"/>
          <p:cNvGrpSpPr/>
          <p:nvPr/>
        </p:nvGrpSpPr>
        <p:grpSpPr>
          <a:xfrm>
            <a:off x="685800" y="1905000"/>
            <a:ext cx="5257800" cy="2857500"/>
            <a:chOff x="685800" y="1905000"/>
            <a:chExt cx="5257800" cy="2857500"/>
          </a:xfrm>
        </p:grpSpPr>
        <p:sp>
          <p:nvSpPr>
            <p:cNvPr id="7" name="Rectangle 7"/>
            <p:cNvSpPr/>
            <p:nvPr/>
          </p:nvSpPr>
          <p:spPr>
            <a:xfrm>
              <a:off x="685800" y="1905000"/>
              <a:ext cx="5257800" cy="2857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905000"/>
              <a:ext cx="5257800" cy="4762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966788" y="2235200"/>
              <a:ext cx="200025" cy="187326"/>
              <a:chOff x="966788" y="2235200"/>
              <a:chExt cx="200025" cy="18732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66788" y="2324100"/>
                <a:ext cx="6667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88900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77788"/>
                    </a:lnTo>
                    <a:cubicBezTo>
                      <a:pt x="66675" y="83925"/>
                      <a:pt x="61700" y="88900"/>
                      <a:pt x="55563" y="88900"/>
                    </a:cubicBezTo>
                    <a:lnTo>
                      <a:pt x="11113" y="88900"/>
                    </a:lnTo>
                    <a:cubicBezTo>
                      <a:pt x="4975" y="88900"/>
                      <a:pt x="0" y="83925"/>
                      <a:pt x="0" y="77788"/>
                    </a:cubicBezTo>
                    <a:lnTo>
                      <a:pt x="0" y="11113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00138" y="2279650"/>
                <a:ext cx="666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33350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122238"/>
                    </a:lnTo>
                    <a:cubicBezTo>
                      <a:pt x="66675" y="128375"/>
                      <a:pt x="61700" y="133350"/>
                      <a:pt x="55563" y="133350"/>
                    </a:cubicBezTo>
                    <a:lnTo>
                      <a:pt x="11113" y="133350"/>
                    </a:lnTo>
                    <a:cubicBezTo>
                      <a:pt x="4975" y="133350"/>
                      <a:pt x="0" y="128375"/>
                      <a:pt x="0" y="122238"/>
                    </a:cubicBezTo>
                    <a:lnTo>
                      <a:pt x="0" y="11113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33463" y="2235200"/>
                <a:ext cx="66675" cy="177801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77801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166688"/>
                    </a:lnTo>
                    <a:cubicBezTo>
                      <a:pt x="66675" y="172825"/>
                      <a:pt x="61700" y="177801"/>
                      <a:pt x="55563" y="177801"/>
                    </a:cubicBezTo>
                    <a:lnTo>
                      <a:pt x="11113" y="177801"/>
                    </a:lnTo>
                    <a:cubicBezTo>
                      <a:pt x="4975" y="177801"/>
                      <a:pt x="0" y="172825"/>
                      <a:pt x="0" y="166688"/>
                    </a:cubicBezTo>
                    <a:lnTo>
                      <a:pt x="0" y="11113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77900" y="2413001"/>
                <a:ext cx="155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9525">
                    <a:moveTo>
                      <a:pt x="0" y="0"/>
                    </a:moveTo>
                    <a:lnTo>
                      <a:pt x="155575" y="0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306449" y="2209800"/>
              <a:ext cx="2045062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8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Ringkasan pinjaman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33450" y="28098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17854" y="2724150"/>
              <a:ext cx="20249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Buku yang sedang dipinjam.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33450" y="30765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17854" y="2990850"/>
              <a:ext cx="2255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Tanggal jatuh tempo tiap buku.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33450" y="33432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17854" y="3257550"/>
              <a:ext cx="19537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Peringatan buku terlambat.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33450" y="36099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17854" y="3524250"/>
              <a:ext cx="15014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Status reservasi aktif.</a:t>
              </a:r>
            </a:p>
          </p:txBody>
        </p:sp>
      </p:grpSp>
      <p:grpSp>
        <p:nvGrpSpPr>
          <p:cNvPr id="36" name="c2"/>
          <p:cNvGrpSpPr/>
          <p:nvPr/>
        </p:nvGrpSpPr>
        <p:grpSpPr>
          <a:xfrm>
            <a:off x="6248400" y="1905000"/>
            <a:ext cx="5257800" cy="2857500"/>
            <a:chOff x="6248400" y="1905000"/>
            <a:chExt cx="5257800" cy="2857500"/>
          </a:xfrm>
        </p:grpSpPr>
        <p:sp>
          <p:nvSpPr>
            <p:cNvPr id="24" name="Rectangle 24"/>
            <p:cNvSpPr/>
            <p:nvPr/>
          </p:nvSpPr>
          <p:spPr>
            <a:xfrm>
              <a:off x="6248400" y="1905000"/>
              <a:ext cx="5257800" cy="2857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48400" y="1905000"/>
              <a:ext cx="5257800" cy="4762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6529388" y="2224088"/>
              <a:ext cx="200026" cy="200026"/>
              <a:chOff x="6529388" y="2224088"/>
              <a:chExt cx="200026" cy="20002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6529388" y="22240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629400" y="2268538"/>
                <a:ext cx="33338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88900">
                    <a:moveTo>
                      <a:pt x="0" y="0"/>
                    </a:moveTo>
                    <a:lnTo>
                      <a:pt x="0" y="55563"/>
                    </a:lnTo>
                    <a:lnTo>
                      <a:pt x="33338" y="88900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6869049" y="2209800"/>
              <a:ext cx="2120523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8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Riwayat peminjaman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496050" y="28098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80454" y="2724150"/>
              <a:ext cx="17684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Daftar pinjaman lampau.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96050" y="30765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80454" y="2990850"/>
              <a:ext cx="20688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Tanggal pinjam dan kembali.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96050" y="33432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80454" y="3257550"/>
              <a:ext cx="21364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Denda yang tercatat, bila ada.</a:t>
              </a:r>
            </a:p>
          </p:txBody>
        </p:sp>
      </p:grpSp>
      <p:grpSp>
        <p:nvGrpSpPr>
          <p:cNvPr id="44" name="n1"/>
          <p:cNvGrpSpPr/>
          <p:nvPr/>
        </p:nvGrpSpPr>
        <p:grpSpPr>
          <a:xfrm>
            <a:off x="685800" y="5143500"/>
            <a:ext cx="10820400" cy="762000"/>
            <a:chOff x="685800" y="5143500"/>
            <a:chExt cx="10820400" cy="762000"/>
          </a:xfrm>
        </p:grpSpPr>
        <p:sp>
          <p:nvSpPr>
            <p:cNvPr id="37" name="Rectangle 37"/>
            <p:cNvSpPr/>
            <p:nvPr/>
          </p:nvSpPr>
          <p:spPr>
            <a:xfrm>
              <a:off x="685800" y="5143500"/>
              <a:ext cx="10820400" cy="762000"/>
            </a:xfrm>
            <a:prstGeom prst="rect">
              <a:avLst/>
            </a:prstGeom>
            <a:solidFill>
              <a:srgbClr val="EFEADD"/>
            </a:solidFill>
            <a:ln w="9525">
              <a:solidFill>
                <a:srgbClr val="D9D2C2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85800" y="5143500"/>
              <a:ext cx="47625" cy="762000"/>
            </a:xfrm>
            <a:prstGeom prst="rect">
              <a:avLst/>
            </a:prstGeom>
            <a:solidFill>
              <a:srgbClr val="9E4B2E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934159" y="5428203"/>
              <a:ext cx="208123" cy="178805"/>
              <a:chOff x="934159" y="5428203"/>
              <a:chExt cx="208123" cy="17880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1038225" y="5493543"/>
                <a:ext cx="95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275">
                    <a:moveTo>
                      <a:pt x="0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20637">
                <a:solidFill>
                  <a:srgbClr val="9E4B2E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934159" y="5428203"/>
                <a:ext cx="208123" cy="178805"/>
              </a:xfrm>
              <a:custGeom>
                <a:avLst/>
                <a:gdLst/>
                <a:ahLst/>
                <a:cxnLst/>
                <a:rect l="l" t="t" r="r" b="b"/>
                <a:pathLst>
                  <a:path w="208123" h="178805">
                    <a:moveTo>
                      <a:pt x="87174" y="9526"/>
                    </a:moveTo>
                    <a:lnTo>
                      <a:pt x="3530" y="149180"/>
                    </a:lnTo>
                    <a:cubicBezTo>
                      <a:pt x="21" y="155256"/>
                      <a:pt x="0" y="162738"/>
                      <a:pt x="3474" y="168834"/>
                    </a:cubicBezTo>
                    <a:cubicBezTo>
                      <a:pt x="6948" y="174931"/>
                      <a:pt x="13395" y="178726"/>
                      <a:pt x="20412" y="178805"/>
                    </a:cubicBezTo>
                    <a:lnTo>
                      <a:pt x="187719" y="178805"/>
                    </a:lnTo>
                    <a:cubicBezTo>
                      <a:pt x="194732" y="178724"/>
                      <a:pt x="201176" y="174930"/>
                      <a:pt x="204650" y="168837"/>
                    </a:cubicBezTo>
                    <a:cubicBezTo>
                      <a:pt x="208123" y="162744"/>
                      <a:pt x="208104" y="155266"/>
                      <a:pt x="204601" y="149190"/>
                    </a:cubicBezTo>
                    <a:lnTo>
                      <a:pt x="120957" y="9516"/>
                    </a:lnTo>
                    <a:cubicBezTo>
                      <a:pt x="117378" y="3609"/>
                      <a:pt x="110973" y="0"/>
                      <a:pt x="104065" y="0"/>
                    </a:cubicBezTo>
                    <a:cubicBezTo>
                      <a:pt x="97158" y="0"/>
                      <a:pt x="90753" y="3609"/>
                      <a:pt x="87174" y="9516"/>
                    </a:cubicBezTo>
                  </a:path>
                </a:pathLst>
              </a:custGeom>
              <a:noFill/>
              <a:ln w="20637">
                <a:solidFill>
                  <a:srgbClr val="9E4B2E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038225" y="5565774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03" y="0"/>
                    </a:lnTo>
                  </a:path>
                </a:pathLst>
              </a:custGeom>
              <a:noFill/>
              <a:ln w="20637">
                <a:solidFill>
                  <a:srgbClr val="9E4B2E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270254" y="5438775"/>
              <a:ext cx="59564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Kembalikan buku sebelum jatuh tempo untuk menghindari denda Rp1.000 per hari.</a:t>
              </a:r>
            </a:p>
          </p:txBody>
        </p:sp>
      </p:grpSp>
      <p:grpSp>
        <p:nvGrpSpPr>
          <p:cNvPr id="48" name="ftr"/>
          <p:cNvGrpSpPr/>
          <p:nvPr/>
        </p:nvGrpSpPr>
        <p:grpSpPr>
          <a:xfrm>
            <a:off x="680847" y="6362700"/>
            <a:ext cx="10830306" cy="324993"/>
            <a:chOff x="680847" y="6362700"/>
            <a:chExt cx="10830306" cy="324993"/>
          </a:xfrm>
        </p:grpSpPr>
        <p:sp>
          <p:nvSpPr>
            <p:cNvPr id="45" name="Line 45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0847" y="6496050"/>
              <a:ext cx="25782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Perpustakaan · Panduan Pengguna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932747" y="6496050"/>
              <a:ext cx="5784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10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"/>
          <p:cNvGrpSpPr/>
          <p:nvPr/>
        </p:nvGrpSpPr>
        <p:grpSpPr>
          <a:xfrm>
            <a:off x="672084" y="698500"/>
            <a:ext cx="10839069" cy="892175"/>
            <a:chOff x="672084" y="698500"/>
            <a:chExt cx="10839069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680085" y="698500"/>
              <a:ext cx="10560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22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BAGIAN 09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965200"/>
              <a:ext cx="513344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2700" b="1" dirty="0">
                  <a:solidFill>
                    <a:srgbClr val="23201B"/>
                  </a:solidFill>
                  <a:latin typeface="+mj-lt"/>
                  <a:ea typeface="+mj-ea"/>
                  <a:cs typeface="+mj-cs"/>
                </a:rPr>
                <a:t>Profil &amp; Keamanan Akun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954529" y="723900"/>
              <a:ext cx="155662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15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PANDUAN PENGGUNA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5811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</p:grpSp>
      <p:grpSp>
        <p:nvGrpSpPr>
          <p:cNvPr id="19" name="c1"/>
          <p:cNvGrpSpPr/>
          <p:nvPr/>
        </p:nvGrpSpPr>
        <p:grpSpPr>
          <a:xfrm>
            <a:off x="685800" y="1905000"/>
            <a:ext cx="5257800" cy="2857500"/>
            <a:chOff x="685800" y="1905000"/>
            <a:chExt cx="5257800" cy="2857500"/>
          </a:xfrm>
        </p:grpSpPr>
        <p:sp>
          <p:nvSpPr>
            <p:cNvPr id="7" name="Rectangle 7"/>
            <p:cNvSpPr/>
            <p:nvPr/>
          </p:nvSpPr>
          <p:spPr>
            <a:xfrm>
              <a:off x="685800" y="1905000"/>
              <a:ext cx="5257800" cy="2857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905000"/>
              <a:ext cx="5257800" cy="4762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00125" y="2224088"/>
              <a:ext cx="133350" cy="200025"/>
              <a:chOff x="1000125" y="2224088"/>
              <a:chExt cx="133350" cy="20002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22350" y="2224088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00125" y="2357438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306449" y="2209800"/>
              <a:ext cx="1480102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8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Perbarui profil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33450" y="28098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17854" y="2724150"/>
              <a:ext cx="14833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Ubah nama lengkap.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33450" y="30765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17854" y="2990850"/>
              <a:ext cx="15991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Perbarui alamat email.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33450" y="33432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17854" y="3257550"/>
              <a:ext cx="13985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Simpan perubahan.</a:t>
              </a:r>
            </a:p>
          </p:txBody>
        </p:sp>
      </p:grpSp>
      <p:grpSp>
        <p:nvGrpSpPr>
          <p:cNvPr id="33" name="c2"/>
          <p:cNvGrpSpPr/>
          <p:nvPr/>
        </p:nvGrpSpPr>
        <p:grpSpPr>
          <a:xfrm>
            <a:off x="6248400" y="1905000"/>
            <a:ext cx="5257800" cy="2857500"/>
            <a:chOff x="6248400" y="1905000"/>
            <a:chExt cx="5257800" cy="2857500"/>
          </a:xfrm>
        </p:grpSpPr>
        <p:sp>
          <p:nvSpPr>
            <p:cNvPr id="20" name="Rectangle 20"/>
            <p:cNvSpPr/>
            <p:nvPr/>
          </p:nvSpPr>
          <p:spPr>
            <a:xfrm>
              <a:off x="6248400" y="1905000"/>
              <a:ext cx="5257800" cy="2857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48400" y="1905000"/>
              <a:ext cx="5257800" cy="4762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6551613" y="2224088"/>
              <a:ext cx="155575" cy="200025"/>
              <a:chOff x="6551613" y="2224088"/>
              <a:chExt cx="155575" cy="2000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551613" y="2312988"/>
                <a:ext cx="15557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11125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33350" y="0"/>
                    </a:lnTo>
                    <a:cubicBezTo>
                      <a:pt x="145625" y="0"/>
                      <a:pt x="155575" y="9950"/>
                      <a:pt x="155575" y="22225"/>
                    </a:cubicBezTo>
                    <a:lnTo>
                      <a:pt x="155575" y="88900"/>
                    </a:lnTo>
                    <a:cubicBezTo>
                      <a:pt x="155575" y="101175"/>
                      <a:pt x="145625" y="111125"/>
                      <a:pt x="133350" y="111125"/>
                    </a:cubicBezTo>
                    <a:lnTo>
                      <a:pt x="22225" y="111125"/>
                    </a:lnTo>
                    <a:cubicBezTo>
                      <a:pt x="9950" y="111125"/>
                      <a:pt x="0" y="101175"/>
                      <a:pt x="0" y="88900"/>
                    </a:cubicBez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618288" y="235743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584950" y="2224088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88900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88900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6869049" y="2209800"/>
              <a:ext cx="163691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8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Ganti kata sandi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496050" y="28098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80454" y="2724150"/>
              <a:ext cx="19250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Masukkan kata sandi lama.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496050" y="30765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80454" y="2990850"/>
              <a:ext cx="22523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Tulis kata sandi baru yang kuat.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96050" y="334327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80454" y="3257550"/>
              <a:ext cx="16622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Konfirmasi lalu simpan.</a:t>
              </a:r>
            </a:p>
          </p:txBody>
        </p:sp>
      </p:grpSp>
      <p:grpSp>
        <p:nvGrpSpPr>
          <p:cNvPr id="41" name="n1"/>
          <p:cNvGrpSpPr/>
          <p:nvPr/>
        </p:nvGrpSpPr>
        <p:grpSpPr>
          <a:xfrm>
            <a:off x="685800" y="5143500"/>
            <a:ext cx="10820400" cy="762000"/>
            <a:chOff x="685800" y="5143500"/>
            <a:chExt cx="10820400" cy="762000"/>
          </a:xfrm>
        </p:grpSpPr>
        <p:sp>
          <p:nvSpPr>
            <p:cNvPr id="34" name="Rectangle 34"/>
            <p:cNvSpPr/>
            <p:nvPr/>
          </p:nvSpPr>
          <p:spPr>
            <a:xfrm>
              <a:off x="685800" y="5143500"/>
              <a:ext cx="10820400" cy="762000"/>
            </a:xfrm>
            <a:prstGeom prst="rect">
              <a:avLst/>
            </a:prstGeom>
            <a:solidFill>
              <a:srgbClr val="EFEADD"/>
            </a:solidFill>
            <a:ln w="9525">
              <a:solidFill>
                <a:srgbClr val="D9D2C2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85800" y="5143500"/>
              <a:ext cx="47625" cy="76200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941059" y="5431631"/>
              <a:ext cx="194331" cy="185737"/>
              <a:chOff x="941059" y="5431631"/>
              <a:chExt cx="194331" cy="185737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941059" y="5431631"/>
                <a:ext cx="194331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94331" h="185737">
                    <a:moveTo>
                      <a:pt x="97166" y="0"/>
                    </a:moveTo>
                    <a:cubicBezTo>
                      <a:pt x="121268" y="21324"/>
                      <a:pt x="152726" y="32427"/>
                      <a:pt x="184875" y="30956"/>
                    </a:cubicBezTo>
                    <a:cubicBezTo>
                      <a:pt x="194331" y="63125"/>
                      <a:pt x="190338" y="97754"/>
                      <a:pt x="173807" y="126926"/>
                    </a:cubicBezTo>
                    <a:cubicBezTo>
                      <a:pt x="157276" y="156098"/>
                      <a:pt x="129622" y="177318"/>
                      <a:pt x="97166" y="185737"/>
                    </a:cubicBezTo>
                    <a:cubicBezTo>
                      <a:pt x="64710" y="177318"/>
                      <a:pt x="37055" y="156098"/>
                      <a:pt x="20524" y="126926"/>
                    </a:cubicBezTo>
                    <a:cubicBezTo>
                      <a:pt x="3994" y="97754"/>
                      <a:pt x="0" y="63125"/>
                      <a:pt x="9457" y="30956"/>
                    </a:cubicBezTo>
                    <a:cubicBezTo>
                      <a:pt x="41605" y="32427"/>
                      <a:pt x="73063" y="21324"/>
                      <a:pt x="97166" y="0"/>
                    </a:cubicBezTo>
                  </a:path>
                </a:pathLst>
              </a:custGeom>
              <a:noFill/>
              <a:ln w="20637">
                <a:solidFill>
                  <a:srgbClr val="3F5D3A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027906" y="5503862"/>
                <a:ext cx="20637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20637">
                    <a:moveTo>
                      <a:pt x="0" y="10319"/>
                    </a:moveTo>
                    <a:cubicBezTo>
                      <a:pt x="0" y="16018"/>
                      <a:pt x="4620" y="20637"/>
                      <a:pt x="10319" y="20637"/>
                    </a:cubicBezTo>
                    <a:cubicBezTo>
                      <a:pt x="16018" y="20637"/>
                      <a:pt x="20637" y="16018"/>
                      <a:pt x="20637" y="10319"/>
                    </a:cubicBezTo>
                    <a:cubicBezTo>
                      <a:pt x="20637" y="4620"/>
                      <a:pt x="16018" y="0"/>
                      <a:pt x="10319" y="0"/>
                    </a:cubicBezTo>
                    <a:cubicBezTo>
                      <a:pt x="4620" y="0"/>
                      <a:pt x="0" y="4620"/>
                      <a:pt x="0" y="10319"/>
                    </a:cubicBezTo>
                  </a:path>
                </a:pathLst>
              </a:custGeom>
              <a:noFill/>
              <a:ln w="20637">
                <a:solidFill>
                  <a:srgbClr val="3F5D3A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038225" y="5524500"/>
                <a:ext cx="9525" cy="2579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797">
                    <a:moveTo>
                      <a:pt x="0" y="0"/>
                    </a:moveTo>
                    <a:lnTo>
                      <a:pt x="0" y="25797"/>
                    </a:lnTo>
                  </a:path>
                </a:pathLst>
              </a:custGeom>
              <a:noFill/>
              <a:ln w="20637">
                <a:solidFill>
                  <a:srgbClr val="3F5D3A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270254" y="5438775"/>
              <a:ext cx="58901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Gunakan kata sandi unik dan jangan bagikan kepada siapa pun, termasuk petugas.</a:t>
              </a:r>
            </a:p>
          </p:txBody>
        </p:sp>
      </p:grpSp>
      <p:grpSp>
        <p:nvGrpSpPr>
          <p:cNvPr id="45" name="ftr"/>
          <p:cNvGrpSpPr/>
          <p:nvPr/>
        </p:nvGrpSpPr>
        <p:grpSpPr>
          <a:xfrm>
            <a:off x="680847" y="6362700"/>
            <a:ext cx="10830306" cy="324993"/>
            <a:chOff x="680847" y="6362700"/>
            <a:chExt cx="10830306" cy="324993"/>
          </a:xfrm>
        </p:grpSpPr>
        <p:sp>
          <p:nvSpPr>
            <p:cNvPr id="42" name="Line 42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0847" y="6496050"/>
              <a:ext cx="25782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Perpustakaan · Panduan Pengguna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932747" y="6496050"/>
              <a:ext cx="5784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11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dr"/>
          <p:cNvGrpSpPr/>
          <p:nvPr/>
        </p:nvGrpSpPr>
        <p:grpSpPr>
          <a:xfrm>
            <a:off x="672084" y="698500"/>
            <a:ext cx="10839069" cy="892175"/>
            <a:chOff x="672084" y="698500"/>
            <a:chExt cx="10839069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680085" y="698500"/>
              <a:ext cx="10560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spc="225" dirty="0">
                  <a:solidFill>
                    <a:srgbClr val="3F5D3A"/>
                  </a:solidFill>
                  <a:latin typeface="Consolas"/>
                  <a:ea typeface="Consolas"/>
                  <a:cs typeface="Consolas"/>
                </a:rPr>
                <a:t>BAGIAN 10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965200"/>
              <a:ext cx="456623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2700" b="1" dirty="0">
                  <a:solidFill>
                    <a:srgbClr val="23201B"/>
                  </a:solidFill>
                  <a:latin typeface="+mj-lt"/>
                  <a:ea typeface="+mj-ea"/>
                  <a:cs typeface="+mj-cs"/>
                </a:rPr>
                <a:t>Aturan Penting &amp; Tips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954529" y="723900"/>
              <a:ext cx="155662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15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PANDUAN PENGGUNA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5811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</p:grpSp>
      <p:grpSp>
        <p:nvGrpSpPr>
          <p:cNvPr id="11" name="s1"/>
          <p:cNvGrpSpPr/>
          <p:nvPr/>
        </p:nvGrpSpPr>
        <p:grpSpPr>
          <a:xfrm>
            <a:off x="685800" y="1905000"/>
            <a:ext cx="3429000" cy="1047750"/>
            <a:chOff x="685800" y="1905000"/>
            <a:chExt cx="3429000" cy="1047750"/>
          </a:xfrm>
        </p:grpSpPr>
        <p:sp>
          <p:nvSpPr>
            <p:cNvPr id="7" name="Rectangle 7"/>
            <p:cNvSpPr/>
            <p:nvPr/>
          </p:nvSpPr>
          <p:spPr>
            <a:xfrm>
              <a:off x="685800" y="1905000"/>
              <a:ext cx="3429000" cy="1047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905000"/>
              <a:ext cx="3429000" cy="4762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22020" y="2159000"/>
              <a:ext cx="115644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2250" b="1" dirty="0">
                  <a:solidFill>
                    <a:srgbClr val="3F5D3A"/>
                  </a:solidFill>
                  <a:latin typeface="+mj-lt"/>
                  <a:ea typeface="+mj-ea"/>
                  <a:cs typeface="+mj-cs"/>
                </a:rPr>
                <a:t>14 hari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28497" y="2571750"/>
              <a:ext cx="10666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15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MASA PINJAM</a:t>
              </a:r>
            </a:p>
          </p:txBody>
        </p:sp>
      </p:grpSp>
      <p:grpSp>
        <p:nvGrpSpPr>
          <p:cNvPr id="16" name="s2"/>
          <p:cNvGrpSpPr/>
          <p:nvPr/>
        </p:nvGrpSpPr>
        <p:grpSpPr>
          <a:xfrm>
            <a:off x="4381500" y="1905000"/>
            <a:ext cx="3429000" cy="1047750"/>
            <a:chOff x="4381500" y="1905000"/>
            <a:chExt cx="3429000" cy="1047750"/>
          </a:xfrm>
        </p:grpSpPr>
        <p:sp>
          <p:nvSpPr>
            <p:cNvPr id="12" name="Rectangle 12"/>
            <p:cNvSpPr/>
            <p:nvPr/>
          </p:nvSpPr>
          <p:spPr>
            <a:xfrm>
              <a:off x="4381500" y="1905000"/>
              <a:ext cx="3429000" cy="1047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381500" y="1905000"/>
              <a:ext cx="3429000" cy="47625"/>
            </a:xfrm>
            <a:prstGeom prst="rect">
              <a:avLst/>
            </a:prstGeom>
            <a:solidFill>
              <a:srgbClr val="6B8A6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617720" y="2159000"/>
              <a:ext cx="114597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2250" b="1" dirty="0">
                  <a:solidFill>
                    <a:srgbClr val="6B8A63"/>
                  </a:solidFill>
                  <a:latin typeface="+mj-lt"/>
                  <a:ea typeface="+mj-ea"/>
                  <a:cs typeface="+mj-cs"/>
                </a:rPr>
                <a:t>3 buku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24197" y="2571750"/>
              <a:ext cx="136061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15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MAKSIMUM AKTIF</a:t>
              </a:r>
            </a:p>
          </p:txBody>
        </p:sp>
      </p:grpSp>
      <p:grpSp>
        <p:nvGrpSpPr>
          <p:cNvPr id="21" name="s3"/>
          <p:cNvGrpSpPr/>
          <p:nvPr/>
        </p:nvGrpSpPr>
        <p:grpSpPr>
          <a:xfrm>
            <a:off x="8077200" y="1905000"/>
            <a:ext cx="3429000" cy="1047750"/>
            <a:chOff x="8077200" y="1905000"/>
            <a:chExt cx="3429000" cy="1047750"/>
          </a:xfrm>
        </p:grpSpPr>
        <p:sp>
          <p:nvSpPr>
            <p:cNvPr id="17" name="Rectangle 17"/>
            <p:cNvSpPr/>
            <p:nvPr/>
          </p:nvSpPr>
          <p:spPr>
            <a:xfrm>
              <a:off x="8077200" y="1905000"/>
              <a:ext cx="3429000" cy="1047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077200" y="1905000"/>
              <a:ext cx="3429000" cy="47625"/>
            </a:xfrm>
            <a:prstGeom prst="rect">
              <a:avLst/>
            </a:prstGeom>
            <a:solidFill>
              <a:srgbClr val="B08A3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13420" y="2159000"/>
              <a:ext cx="157362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2250" b="1" dirty="0">
                  <a:solidFill>
                    <a:srgbClr val="B08A3E"/>
                  </a:solidFill>
                  <a:latin typeface="+mj-lt"/>
                  <a:ea typeface="+mj-ea"/>
                  <a:cs typeface="+mj-cs"/>
                </a:rPr>
                <a:t>Rp1.000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19897" y="2571750"/>
              <a:ext cx="136061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150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DENDA PER HARI</a:t>
              </a:r>
            </a:p>
          </p:txBody>
        </p:sp>
      </p:grpSp>
      <p:grpSp>
        <p:nvGrpSpPr>
          <p:cNvPr id="34" name="c1"/>
          <p:cNvGrpSpPr/>
          <p:nvPr/>
        </p:nvGrpSpPr>
        <p:grpSpPr>
          <a:xfrm>
            <a:off x="685800" y="3333750"/>
            <a:ext cx="5257800" cy="1905000"/>
            <a:chOff x="685800" y="3333750"/>
            <a:chExt cx="5257800" cy="1905000"/>
          </a:xfrm>
        </p:grpSpPr>
        <p:sp>
          <p:nvSpPr>
            <p:cNvPr id="22" name="Rectangle 22"/>
            <p:cNvSpPr/>
            <p:nvPr/>
          </p:nvSpPr>
          <p:spPr>
            <a:xfrm>
              <a:off x="685800" y="3333750"/>
              <a:ext cx="5257800" cy="190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85800" y="3333750"/>
              <a:ext cx="5257800" cy="4762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966788" y="3652838"/>
              <a:ext cx="200026" cy="200026"/>
              <a:chOff x="966788" y="3652838"/>
              <a:chExt cx="200026" cy="20002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966788" y="36528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033463" y="373062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306449" y="3638550"/>
              <a:ext cx="1517962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8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Kebiasaan baik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33450" y="423862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17854" y="4152900"/>
              <a:ext cx="19255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Catat tanggal jatuh tempo.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33450" y="450532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117854" y="4419600"/>
              <a:ext cx="17638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Kembalikan tepat waktu.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33450" y="477202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117854" y="4686300"/>
              <a:ext cx="22644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Ajukan reservasi bila stok habis.</a:t>
              </a:r>
            </a:p>
          </p:txBody>
        </p:sp>
      </p:grpSp>
      <p:grpSp>
        <p:nvGrpSpPr>
          <p:cNvPr id="48" name="c2"/>
          <p:cNvGrpSpPr/>
          <p:nvPr/>
        </p:nvGrpSpPr>
        <p:grpSpPr>
          <a:xfrm>
            <a:off x="6248400" y="3333750"/>
            <a:ext cx="5257800" cy="1905000"/>
            <a:chOff x="6248400" y="3333750"/>
            <a:chExt cx="5257800" cy="1905000"/>
          </a:xfrm>
        </p:grpSpPr>
        <p:sp>
          <p:nvSpPr>
            <p:cNvPr id="35" name="Rectangle 35"/>
            <p:cNvSpPr/>
            <p:nvPr/>
          </p:nvSpPr>
          <p:spPr>
            <a:xfrm>
              <a:off x="6248400" y="3333750"/>
              <a:ext cx="5257800" cy="190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2C2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48400" y="3333750"/>
              <a:ext cx="5257800" cy="4762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529388" y="3652838"/>
              <a:ext cx="200026" cy="200026"/>
              <a:chOff x="6529388" y="3652838"/>
              <a:chExt cx="200026" cy="20002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529388" y="36528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629400" y="38084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607175" y="3694605"/>
                <a:ext cx="52232" cy="74914"/>
              </a:xfrm>
              <a:custGeom>
                <a:avLst/>
                <a:gdLst/>
                <a:ahLst/>
                <a:cxnLst/>
                <a:rect l="l" t="t" r="r" b="b"/>
                <a:pathLst>
                  <a:path w="52232" h="74914">
                    <a:moveTo>
                      <a:pt x="22225" y="74914"/>
                    </a:moveTo>
                    <a:cubicBezTo>
                      <a:pt x="21805" y="67504"/>
                      <a:pt x="26335" y="60708"/>
                      <a:pt x="33338" y="58246"/>
                    </a:cubicBezTo>
                    <a:cubicBezTo>
                      <a:pt x="44791" y="53865"/>
                      <a:pt x="52232" y="42733"/>
                      <a:pt x="51899" y="30474"/>
                    </a:cubicBezTo>
                    <a:cubicBezTo>
                      <a:pt x="51567" y="18216"/>
                      <a:pt x="43532" y="7504"/>
                      <a:pt x="31858" y="3752"/>
                    </a:cubicBezTo>
                    <a:cubicBezTo>
                      <a:pt x="20183" y="0"/>
                      <a:pt x="7412" y="4026"/>
                      <a:pt x="0" y="13795"/>
                    </a:cubicBezTo>
                  </a:path>
                </a:pathLst>
              </a:custGeom>
              <a:noFill/>
              <a:ln w="22225">
                <a:solidFill>
                  <a:srgbClr val="3F5D3A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869049" y="3638550"/>
              <a:ext cx="160952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580" b="1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Butuh bantuan?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96050" y="423862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80454" y="4152900"/>
              <a:ext cx="2675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Hubungi meja sirkulasi perpustakaan.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96050" y="450532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80454" y="4419600"/>
              <a:ext cx="29768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Sebutkan judul atau nomor panggil buku.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96050" y="4772025"/>
              <a:ext cx="66675" cy="66675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80454" y="4686300"/>
              <a:ext cx="22444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5C5548"/>
                  </a:solidFill>
                  <a:latin typeface="+mn-lt"/>
                  <a:ea typeface="+mn-ea"/>
                  <a:cs typeface="+mn-cs"/>
                </a:rPr>
                <a:t>Petugas akan membantu Anda.</a:t>
              </a:r>
            </a:p>
          </p:txBody>
        </p:sp>
      </p:grpSp>
      <p:grpSp>
        <p:nvGrpSpPr>
          <p:cNvPr id="58" name="n1"/>
          <p:cNvGrpSpPr/>
          <p:nvPr/>
        </p:nvGrpSpPr>
        <p:grpSpPr>
          <a:xfrm>
            <a:off x="685800" y="5429250"/>
            <a:ext cx="10820400" cy="704850"/>
            <a:chOff x="685800" y="5429250"/>
            <a:chExt cx="10820400" cy="704850"/>
          </a:xfrm>
        </p:grpSpPr>
        <p:sp>
          <p:nvSpPr>
            <p:cNvPr id="49" name="Rectangle 49"/>
            <p:cNvSpPr/>
            <p:nvPr/>
          </p:nvSpPr>
          <p:spPr>
            <a:xfrm>
              <a:off x="685800" y="5429250"/>
              <a:ext cx="10820400" cy="704850"/>
            </a:xfrm>
            <a:prstGeom prst="rect">
              <a:avLst/>
            </a:prstGeom>
            <a:solidFill>
              <a:srgbClr val="EFEADD"/>
            </a:solidFill>
            <a:ln w="9525">
              <a:solidFill>
                <a:srgbClr val="D9D2C2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85800" y="5429250"/>
              <a:ext cx="47625" cy="704850"/>
            </a:xfrm>
            <a:prstGeom prst="rect">
              <a:avLst/>
            </a:prstGeom>
            <a:solidFill>
              <a:srgbClr val="3F5D3A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945356" y="5703173"/>
              <a:ext cx="195262" cy="150732"/>
              <a:chOff x="945356" y="5703173"/>
              <a:chExt cx="195262" cy="150732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945356" y="5837316"/>
                <a:ext cx="185737" cy="16589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6589">
                    <a:moveTo>
                      <a:pt x="0" y="16589"/>
                    </a:moveTo>
                    <a:cubicBezTo>
                      <a:pt x="28734" y="0"/>
                      <a:pt x="64135" y="0"/>
                      <a:pt x="92868" y="16589"/>
                    </a:cubicBezTo>
                    <a:cubicBezTo>
                      <a:pt x="121602" y="0"/>
                      <a:pt x="157003" y="0"/>
                      <a:pt x="185737" y="16589"/>
                    </a:cubicBezTo>
                  </a:path>
                </a:pathLst>
              </a:custGeom>
              <a:noFill/>
              <a:ln w="20637">
                <a:solidFill>
                  <a:srgbClr val="3F5D3A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945356" y="5703173"/>
                <a:ext cx="185737" cy="16589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6589">
                    <a:moveTo>
                      <a:pt x="0" y="16589"/>
                    </a:moveTo>
                    <a:cubicBezTo>
                      <a:pt x="28734" y="0"/>
                      <a:pt x="64135" y="0"/>
                      <a:pt x="92868" y="16589"/>
                    </a:cubicBezTo>
                    <a:cubicBezTo>
                      <a:pt x="121602" y="0"/>
                      <a:pt x="157003" y="0"/>
                      <a:pt x="185737" y="16589"/>
                    </a:cubicBezTo>
                  </a:path>
                </a:pathLst>
              </a:custGeom>
              <a:noFill/>
              <a:ln w="20637">
                <a:solidFill>
                  <a:srgbClr val="3F5D3A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945356" y="5719762"/>
                <a:ext cx="9525" cy="13414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143">
                    <a:moveTo>
                      <a:pt x="0" y="0"/>
                    </a:moveTo>
                    <a:lnTo>
                      <a:pt x="0" y="134143"/>
                    </a:lnTo>
                  </a:path>
                </a:pathLst>
              </a:custGeom>
              <a:noFill/>
              <a:ln w="20637">
                <a:solidFill>
                  <a:srgbClr val="3F5D3A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038225" y="5719762"/>
                <a:ext cx="9525" cy="13414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143">
                    <a:moveTo>
                      <a:pt x="0" y="0"/>
                    </a:moveTo>
                    <a:lnTo>
                      <a:pt x="0" y="134143"/>
                    </a:lnTo>
                  </a:path>
                </a:pathLst>
              </a:custGeom>
              <a:noFill/>
              <a:ln w="20637">
                <a:solidFill>
                  <a:srgbClr val="3F5D3A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131093" y="5719762"/>
                <a:ext cx="9525" cy="13414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143">
                    <a:moveTo>
                      <a:pt x="0" y="0"/>
                    </a:moveTo>
                    <a:lnTo>
                      <a:pt x="0" y="134143"/>
                    </a:lnTo>
                  </a:path>
                </a:pathLst>
              </a:custGeom>
              <a:noFill/>
              <a:ln w="20637">
                <a:solidFill>
                  <a:srgbClr val="3F5D3A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270254" y="5695950"/>
              <a:ext cx="53163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dirty="0">
                  <a:solidFill>
                    <a:srgbClr val="23201B"/>
                  </a:solidFill>
                  <a:latin typeface="+mn-lt"/>
                  <a:ea typeface="+mn-ea"/>
                  <a:cs typeface="+mn-cs"/>
                </a:rPr>
                <a:t>Terima kasih telah memakai perpustakaan digital kami. Selamat membaca!</a:t>
              </a:r>
            </a:p>
          </p:txBody>
        </p:sp>
      </p:grpSp>
      <p:grpSp>
        <p:nvGrpSpPr>
          <p:cNvPr id="62" name="ftr"/>
          <p:cNvGrpSpPr/>
          <p:nvPr/>
        </p:nvGrpSpPr>
        <p:grpSpPr>
          <a:xfrm>
            <a:off x="680847" y="6362700"/>
            <a:ext cx="10830306" cy="324993"/>
            <a:chOff x="680847" y="6362700"/>
            <a:chExt cx="10830306" cy="324993"/>
          </a:xfrm>
        </p:grpSpPr>
        <p:sp>
          <p:nvSpPr>
            <p:cNvPr id="59" name="Line 59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9D2C2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80847" y="6496050"/>
              <a:ext cx="25782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Perpustakaan · Panduan Pengguna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932747" y="6496050"/>
              <a:ext cx="5784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id-ID" sz="980" spc="75" dirty="0">
                  <a:solidFill>
                    <a:srgbClr val="5C5548"/>
                  </a:solidFill>
                  <a:latin typeface="Consolas"/>
                  <a:ea typeface="Consolas"/>
                  <a:cs typeface="Consolas"/>
                </a:rPr>
                <a:t>12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anduan_user">
  <a:themeElements>
    <a:clrScheme name="panduan_use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nduan_user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nduan_us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id-ID</dc:language>
  <cp:lastModifiedBy/>
  <cp:revision>1</cp:revision>
  <dcterms:created xsi:type="dcterms:W3CDTF">2026-10-11T06:12:29Z</dcterms:created>
  <dcterms:modified xsi:type="dcterms:W3CDTF">2026-10-11T06:12:29Z</dcterms:modified>
  <cp:category/>
  <cp:contentStatus/>
</cp:coreProperties>
</file>